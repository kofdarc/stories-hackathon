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3"/>
    <p:sldId id="261" r:id="rId7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63" r:id="rId8"/>
  </p:sldIdLst>
  <p:sldSz cx="18288000" cy="10287000"/>
  <p:notesSz cx="6858000" cy="91440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Helvetica World" panose="020B0604020202020204" charset="-128"/>
      <p:regular r:id="rId13"/>
    </p:embeddedFont>
    <p:embeddedFont>
      <p:font typeface="Helvetica World Bold" panose="020B0604020202020204" charset="-128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730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8" Type="http://schemas.openxmlformats.org/officeDocument/2006/relationships/slide" Target="slides/slide10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font" Target="fonts/font6.fntdata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Seven recommendations from six months of Stories sales: 33,887 baskets, $305,925 revenue, $179,430 gross profit, January to June 2026, across Garden, Harbour and Uptown.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Values are recorded gross profit over six months, before payroll, rent and the cost of acting. They are scenarios, not forecasts.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Garden margin 46.91% vs Harbour 64.96%. Repricing Garden at Harbour costs adds $15,923 in six-month GP; at 25% recovery that is $3,981. The ratio never changes, which looks like an allocation rule rather than waste.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branch × hour × weekday template predicts unseen hours within 1.2% of the best possible forecast. Adding weather changes nothing. Busiest slot: Harbour, Tuesday 9 PM, plan for 27 baskets.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Mornings bring 37% fewer baskets per hour; weekends 29% fewer per day. The two 15% windows (12–19 March, 12–19 May, Harbour, cold coffee and desserts) showed lower daily GP than other branches, with wide intervals.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Avoid pushing matcha until supply is secured: global matcha supply is rationed and prices are at records. Co-purchase alone does not prove a discount would add sales, so no bundle discount.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Monte Carlo 5th–95th percentile: $3,025 to $11,128. Holding coffee prices back loses to a uniform rise in 88% of draws. The certainty comes from assumptions: prices never changed in the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Staffing assumptions drive this result far more than electricity prices. The generator tariff rose 74% Jan to April.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Cold-drink share stays at 60.2–60.9% as Beirut warms from 14.0 °C to 25.5 °C. 99.2% of growth from January to June came from more baskets per day, not bigger baskets.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Questions. Full detail: reports/recommendations.pdf and the full deck, Stories_Outside_In_Deck.pptx.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400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037462" y="1510436"/>
            <a:ext cx="6769320" cy="1581616"/>
            <a:chOff x="0" y="0"/>
            <a:chExt cx="9025760" cy="2108822"/>
          </a:xfrm>
        </p:grpSpPr>
        <p:sp>
          <p:nvSpPr>
            <p:cNvPr id="3" name="Freeform 3" descr="Text  Description automatically generated with medium confidence"/>
            <p:cNvSpPr/>
            <p:nvPr/>
          </p:nvSpPr>
          <p:spPr>
            <a:xfrm>
              <a:off x="0" y="0"/>
              <a:ext cx="9025763" cy="2108835"/>
            </a:xfrm>
            <a:custGeom>
              <a:avLst/>
              <a:gdLst/>
              <a:ahLst/>
              <a:cxnLst/>
              <a:rect l="l" t="t" r="r" b="b"/>
              <a:pathLst>
                <a:path w="9025763" h="2108835">
                  <a:moveTo>
                    <a:pt x="0" y="0"/>
                  </a:moveTo>
                  <a:lnTo>
                    <a:pt x="9025763" y="0"/>
                  </a:lnTo>
                  <a:lnTo>
                    <a:pt x="9025763" y="2108835"/>
                  </a:lnTo>
                  <a:lnTo>
                    <a:pt x="0" y="2108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3" r="-2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150517" y="519466"/>
            <a:ext cx="2927240" cy="509234"/>
            <a:chOff x="0" y="0"/>
            <a:chExt cx="3250766" cy="56551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250766" cy="565516"/>
            </a:xfrm>
            <a:custGeom>
              <a:avLst/>
              <a:gdLst/>
              <a:ahLst/>
              <a:cxnLst/>
              <a:rect l="l" t="t" r="r" b="b"/>
              <a:pathLst>
                <a:path w="3250766" h="565516">
                  <a:moveTo>
                    <a:pt x="0" y="0"/>
                  </a:moveTo>
                  <a:lnTo>
                    <a:pt x="3250766" y="0"/>
                  </a:lnTo>
                  <a:lnTo>
                    <a:pt x="3250766" y="565516"/>
                  </a:lnTo>
                  <a:lnTo>
                    <a:pt x="0" y="565516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3250766" cy="5655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785691" y="571119"/>
            <a:ext cx="3473609" cy="457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2"/>
              </a:lnSpc>
              <a:spcBef>
                <a:spcPct val="0"/>
              </a:spcBef>
            </a:pPr>
            <a:r>
              <a:rPr lang="en-US" sz="315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October 17,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3931920"/>
            <a:ext cx="14173200" cy="2103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6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Seven simple moves for Stories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6263640"/>
            <a:ext cx="128016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Our recommendations, explained simply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8549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EECE 490 · Stories Coffee 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811" y="1702796"/>
            <a:ext cx="17986378" cy="8413793"/>
            <a:chOff x="0" y="0"/>
            <a:chExt cx="23981838" cy="11218391"/>
          </a:xfrm>
        </p:grpSpPr>
        <p:sp>
          <p:nvSpPr>
            <p:cNvPr id="3" name="Freeform 3"/>
            <p:cNvSpPr/>
            <p:nvPr/>
          </p:nvSpPr>
          <p:spPr>
            <a:xfrm>
              <a:off x="6350" y="6350"/>
              <a:ext cx="23969090" cy="11205718"/>
            </a:xfrm>
            <a:custGeom>
              <a:avLst/>
              <a:gdLst/>
              <a:ahLst/>
              <a:cxnLst/>
              <a:rect l="l" t="t" r="r" b="b"/>
              <a:pathLst>
                <a:path w="23969090" h="11205718">
                  <a:moveTo>
                    <a:pt x="0" y="0"/>
                  </a:moveTo>
                  <a:lnTo>
                    <a:pt x="23969090" y="0"/>
                  </a:lnTo>
                  <a:lnTo>
                    <a:pt x="23969090" y="11205718"/>
                  </a:lnTo>
                  <a:lnTo>
                    <a:pt x="0" y="112057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4043000" y="968031"/>
            <a:ext cx="2955635" cy="123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80"/>
              </a:lnSpc>
            </a:pPr>
            <a:r>
              <a:rPr lang="en-US" sz="900" b="1">
                <a:solidFill>
                  <a:srgbClr val="92929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ⓒ</a:t>
            </a:r>
            <a:r>
              <a:rPr lang="en-US" sz="900">
                <a:solidFill>
                  <a:srgbClr val="92929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All rights reserved. American University of Beirut 2026.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960368" y="841018"/>
            <a:ext cx="5084033" cy="19050"/>
            <a:chOff x="0" y="0"/>
            <a:chExt cx="6778711" cy="25400"/>
          </a:xfrm>
        </p:grpSpPr>
        <p:sp>
          <p:nvSpPr>
            <p:cNvPr id="6" name="Freeform 6"/>
            <p:cNvSpPr/>
            <p:nvPr/>
          </p:nvSpPr>
          <p:spPr>
            <a:xfrm>
              <a:off x="12700" y="0"/>
              <a:ext cx="6753352" cy="25400"/>
            </a:xfrm>
            <a:custGeom>
              <a:avLst/>
              <a:gdLst/>
              <a:ahLst/>
              <a:cxnLst/>
              <a:rect l="l" t="t" r="r" b="b"/>
              <a:pathLst>
                <a:path w="6753352" h="25400">
                  <a:moveTo>
                    <a:pt x="0" y="0"/>
                  </a:moveTo>
                  <a:lnTo>
                    <a:pt x="6753352" y="0"/>
                  </a:lnTo>
                  <a:lnTo>
                    <a:pt x="6753352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7195515" y="501549"/>
            <a:ext cx="678515" cy="678515"/>
            <a:chOff x="0" y="0"/>
            <a:chExt cx="904687" cy="9046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04748" cy="904748"/>
            </a:xfrm>
            <a:custGeom>
              <a:avLst/>
              <a:gdLst/>
              <a:ahLst/>
              <a:cxnLst/>
              <a:rect l="l" t="t" r="r" b="b"/>
              <a:pathLst>
                <a:path w="904748" h="904748">
                  <a:moveTo>
                    <a:pt x="0" y="0"/>
                  </a:moveTo>
                  <a:lnTo>
                    <a:pt x="904748" y="0"/>
                  </a:lnTo>
                  <a:lnTo>
                    <a:pt x="904748" y="904748"/>
                  </a:lnTo>
                  <a:lnTo>
                    <a:pt x="0" y="904748"/>
                  </a:lnTo>
                  <a:lnTo>
                    <a:pt x="0" y="0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413970" y="392261"/>
            <a:ext cx="3940574" cy="920695"/>
            <a:chOff x="0" y="0"/>
            <a:chExt cx="5254098" cy="1227593"/>
          </a:xfrm>
        </p:grpSpPr>
        <p:sp>
          <p:nvSpPr>
            <p:cNvPr id="10" name="Freeform 10" descr="Logo  Description automatically generated with medium confidence"/>
            <p:cNvSpPr/>
            <p:nvPr/>
          </p:nvSpPr>
          <p:spPr>
            <a:xfrm>
              <a:off x="0" y="0"/>
              <a:ext cx="5254117" cy="1227582"/>
            </a:xfrm>
            <a:custGeom>
              <a:avLst/>
              <a:gdLst/>
              <a:ahLst/>
              <a:cxnLst/>
              <a:rect l="l" t="t" r="r" b="b"/>
              <a:pathLst>
                <a:path w="5254117" h="1227582">
                  <a:moveTo>
                    <a:pt x="0" y="0"/>
                  </a:moveTo>
                  <a:lnTo>
                    <a:pt x="5254117" y="0"/>
                  </a:lnTo>
                  <a:lnTo>
                    <a:pt x="5254117" y="1227582"/>
                  </a:lnTo>
                  <a:lnTo>
                    <a:pt x="0" y="12275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5" r="-5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848017" y="2485790"/>
            <a:ext cx="10591967" cy="521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55"/>
              </a:lnSpc>
            </a:pPr>
            <a:r>
              <a:rPr lang="en-US" sz="4125" b="1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The seven moves at a glance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15930" y="554473"/>
            <a:ext cx="4972908" cy="250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70"/>
              </a:lnSpc>
            </a:pPr>
            <a:r>
              <a:rPr lang="en-US" sz="172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EECE 490 · Stories Coffee Hackathon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035808"/>
            <a:ext cx="15544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22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Each one starts as a small test, so real results decide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90320" y="3584448"/>
            <a:ext cx="36118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1500" b="0" i="0">
                <a:solidFill>
                  <a:srgbClr val="6B6B6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Size of the prize, 6 months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4041648"/>
            <a:ext cx="566928" cy="566928"/>
          </a:xfrm>
          <a:prstGeom prst="ellipse">
            <a:avLst/>
          </a:prstGeom>
          <a:solidFill>
            <a:srgbClr val="84003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1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977639"/>
            <a:ext cx="12435840" cy="6949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1A1A1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Check Garden’s costs</a:t>
            </a:r>
            <a:r>
              <a:rPr sz="21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—  it pays ~43% more for the same products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0" y="3977639"/>
            <a:ext cx="3886200" cy="6949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2000"/>
              </a:lnSpc>
            </a:pPr>
            <a:r>
              <a:rPr sz="24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$4K–$16K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508760" y="4718304"/>
            <a:ext cx="16093440" cy="0"/>
          </a:xfrm>
          <a:prstGeom prst="line">
            <a:avLst/>
          </a:prstGeom>
          <a:ln w="12700">
            <a:solidFill>
              <a:srgbClr val="E2E2E2"/>
            </a:solidFill>
          </a:ln>
        </p:spPr>
      </p:cxnSp>
      <p:sp>
        <p:nvSpPr>
          <p:cNvPr id="19" name="Oval 18"/>
          <p:cNvSpPr/>
          <p:nvPr/>
        </p:nvSpPr>
        <p:spPr>
          <a:xfrm>
            <a:off x="685800" y="4809744"/>
            <a:ext cx="566928" cy="566928"/>
          </a:xfrm>
          <a:prstGeom prst="ellipse">
            <a:avLst/>
          </a:prstGeom>
          <a:solidFill>
            <a:srgbClr val="84003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1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745736"/>
            <a:ext cx="12435840" cy="6949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1A1A1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Plan by the clock, not the weather</a:t>
            </a:r>
            <a:r>
              <a:rPr sz="21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—  the evening rush is the same every 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0" y="4745736"/>
            <a:ext cx="3886200" cy="6949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2000"/>
              </a:lnSpc>
            </a:pPr>
            <a:r>
              <a:rPr sz="24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44.6% of profit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508760" y="5486400"/>
            <a:ext cx="16093440" cy="0"/>
          </a:xfrm>
          <a:prstGeom prst="line">
            <a:avLst/>
          </a:prstGeom>
          <a:ln w="12700">
            <a:solidFill>
              <a:srgbClr val="E2E2E2"/>
            </a:solidFill>
          </a:ln>
        </p:spPr>
      </p:cxnSp>
      <p:sp>
        <p:nvSpPr>
          <p:cNvPr id="23" name="Oval 22"/>
          <p:cNvSpPr/>
          <p:nvPr/>
        </p:nvSpPr>
        <p:spPr>
          <a:xfrm>
            <a:off x="685800" y="5577840"/>
            <a:ext cx="566928" cy="566928"/>
          </a:xfrm>
          <a:prstGeom prst="ellipse">
            <a:avLst/>
          </a:prstGeom>
          <a:solidFill>
            <a:srgbClr val="84003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1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513831"/>
            <a:ext cx="12435840" cy="6949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1A1A1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Give discounts when the shop is quiet</a:t>
            </a:r>
            <a:r>
              <a:rPr sz="21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—  not when it’s already full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0" y="5513831"/>
            <a:ext cx="3886200" cy="6949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2000"/>
              </a:lnSpc>
            </a:pPr>
            <a:r>
              <a:rPr sz="24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same budget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508760" y="6254496"/>
            <a:ext cx="16093440" cy="0"/>
          </a:xfrm>
          <a:prstGeom prst="line">
            <a:avLst/>
          </a:prstGeom>
          <a:ln w="12700">
            <a:solidFill>
              <a:srgbClr val="E2E2E2"/>
            </a:solidFill>
          </a:ln>
        </p:spPr>
      </p:cxnSp>
      <p:sp>
        <p:nvSpPr>
          <p:cNvPr id="27" name="Oval 26"/>
          <p:cNvSpPr/>
          <p:nvPr/>
        </p:nvSpPr>
        <p:spPr>
          <a:xfrm>
            <a:off x="685800" y="6345936"/>
            <a:ext cx="566928" cy="566928"/>
          </a:xfrm>
          <a:prstGeom prst="ellipse">
            <a:avLst/>
          </a:prstGeom>
          <a:solidFill>
            <a:srgbClr val="84003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1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6281927"/>
            <a:ext cx="12435840" cy="6949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1A1A1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Ask “want a pastry?” in the evening</a:t>
            </a:r>
            <a:r>
              <a:rPr sz="21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—  with no discount attached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0" y="6281927"/>
            <a:ext cx="3886200" cy="6949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2000"/>
              </a:lnSpc>
            </a:pPr>
            <a:r>
              <a:rPr sz="24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66% margin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508760" y="7022592"/>
            <a:ext cx="16093440" cy="0"/>
          </a:xfrm>
          <a:prstGeom prst="line">
            <a:avLst/>
          </a:prstGeom>
          <a:ln w="12700">
            <a:solidFill>
              <a:srgbClr val="E2E2E2"/>
            </a:solidFill>
          </a:ln>
        </p:spPr>
      </p:cxnSp>
      <p:sp>
        <p:nvSpPr>
          <p:cNvPr id="31" name="Oval 30"/>
          <p:cNvSpPr/>
          <p:nvPr/>
        </p:nvSpPr>
        <p:spPr>
          <a:xfrm>
            <a:off x="685800" y="7114031"/>
            <a:ext cx="566928" cy="566928"/>
          </a:xfrm>
          <a:prstGeom prst="ellipse">
            <a:avLst/>
          </a:prstGeom>
          <a:solidFill>
            <a:srgbClr val="84003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1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7050023"/>
            <a:ext cx="12435840" cy="6949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1A1A1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Test a 5% price rise at one branch</a:t>
            </a:r>
            <a:r>
              <a:rPr sz="21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—  stop if sales drop more than 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0" y="7050023"/>
            <a:ext cx="3886200" cy="6949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2000"/>
              </a:lnSpc>
            </a:pPr>
            <a:r>
              <a:rPr sz="24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+$7,300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508760" y="7790688"/>
            <a:ext cx="16093440" cy="0"/>
          </a:xfrm>
          <a:prstGeom prst="line">
            <a:avLst/>
          </a:prstGeom>
          <a:ln w="12700">
            <a:solidFill>
              <a:srgbClr val="E2E2E2"/>
            </a:solidFill>
          </a:ln>
        </p:spPr>
      </p:cxnSp>
      <p:sp>
        <p:nvSpPr>
          <p:cNvPr id="35" name="Oval 34"/>
          <p:cNvSpPr/>
          <p:nvPr/>
        </p:nvSpPr>
        <p:spPr>
          <a:xfrm>
            <a:off x="685800" y="7882127"/>
            <a:ext cx="566928" cy="566928"/>
          </a:xfrm>
          <a:prstGeom prst="ellipse">
            <a:avLst/>
          </a:prstGeom>
          <a:solidFill>
            <a:srgbClr val="84003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1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08760" y="7818119"/>
            <a:ext cx="12435840" cy="6949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1A1A1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Open later where mornings are empty</a:t>
            </a:r>
            <a:r>
              <a:rPr sz="21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—  pays in 3 of 4 simulated futures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0" y="7818119"/>
            <a:ext cx="3886200" cy="6949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2000"/>
              </a:lnSpc>
            </a:pPr>
            <a:r>
              <a:rPr sz="24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+$656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508760" y="8558784"/>
            <a:ext cx="16093440" cy="0"/>
          </a:xfrm>
          <a:prstGeom prst="line">
            <a:avLst/>
          </a:prstGeom>
          <a:ln w="12700">
            <a:solidFill>
              <a:srgbClr val="E2E2E2"/>
            </a:solidFill>
          </a:ln>
        </p:spPr>
      </p:cxnSp>
      <p:sp>
        <p:nvSpPr>
          <p:cNvPr id="39" name="Oval 38"/>
          <p:cNvSpPr/>
          <p:nvPr/>
        </p:nvSpPr>
        <p:spPr>
          <a:xfrm>
            <a:off x="685800" y="8650224"/>
            <a:ext cx="566928" cy="566928"/>
          </a:xfrm>
          <a:prstGeom prst="ellipse">
            <a:avLst/>
          </a:prstGeom>
          <a:solidFill>
            <a:srgbClr val="84003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1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08760" y="8586215"/>
            <a:ext cx="12435840" cy="6949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1A1A1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Skip what the data doesn’t support</a:t>
            </a:r>
            <a:r>
              <a:rPr sz="21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—  late discounts, winter promos, bundles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0" y="8586215"/>
            <a:ext cx="3886200" cy="6949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2000"/>
              </a:lnSpc>
            </a:pPr>
            <a:r>
              <a:rPr sz="24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$0 wasted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811" y="1702796"/>
            <a:ext cx="17986378" cy="8413793"/>
            <a:chOff x="0" y="0"/>
            <a:chExt cx="23981838" cy="11218391"/>
          </a:xfrm>
        </p:grpSpPr>
        <p:sp>
          <p:nvSpPr>
            <p:cNvPr id="3" name="Freeform 3"/>
            <p:cNvSpPr/>
            <p:nvPr/>
          </p:nvSpPr>
          <p:spPr>
            <a:xfrm>
              <a:off x="6350" y="6350"/>
              <a:ext cx="23969090" cy="11205718"/>
            </a:xfrm>
            <a:custGeom>
              <a:avLst/>
              <a:gdLst/>
              <a:ahLst/>
              <a:cxnLst/>
              <a:rect l="l" t="t" r="r" b="b"/>
              <a:pathLst>
                <a:path w="23969090" h="11205718">
                  <a:moveTo>
                    <a:pt x="0" y="0"/>
                  </a:moveTo>
                  <a:lnTo>
                    <a:pt x="23969090" y="0"/>
                  </a:lnTo>
                  <a:lnTo>
                    <a:pt x="23969090" y="11205718"/>
                  </a:lnTo>
                  <a:lnTo>
                    <a:pt x="0" y="112057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4043000" y="968031"/>
            <a:ext cx="2955635" cy="123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80"/>
              </a:lnSpc>
            </a:pPr>
            <a:r>
              <a:rPr lang="en-US" sz="900" b="1">
                <a:solidFill>
                  <a:srgbClr val="92929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ⓒ</a:t>
            </a:r>
            <a:r>
              <a:rPr lang="en-US" sz="900">
                <a:solidFill>
                  <a:srgbClr val="92929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All rights reserved. American University of Beirut 2026.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960368" y="841018"/>
            <a:ext cx="5084033" cy="19050"/>
            <a:chOff x="0" y="0"/>
            <a:chExt cx="6778711" cy="25400"/>
          </a:xfrm>
        </p:grpSpPr>
        <p:sp>
          <p:nvSpPr>
            <p:cNvPr id="6" name="Freeform 6"/>
            <p:cNvSpPr/>
            <p:nvPr/>
          </p:nvSpPr>
          <p:spPr>
            <a:xfrm>
              <a:off x="12700" y="0"/>
              <a:ext cx="6753352" cy="25400"/>
            </a:xfrm>
            <a:custGeom>
              <a:avLst/>
              <a:gdLst/>
              <a:ahLst/>
              <a:cxnLst/>
              <a:rect l="l" t="t" r="r" b="b"/>
              <a:pathLst>
                <a:path w="6753352" h="25400">
                  <a:moveTo>
                    <a:pt x="0" y="0"/>
                  </a:moveTo>
                  <a:lnTo>
                    <a:pt x="6753352" y="0"/>
                  </a:lnTo>
                  <a:lnTo>
                    <a:pt x="6753352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7195515" y="501549"/>
            <a:ext cx="678515" cy="678515"/>
            <a:chOff x="0" y="0"/>
            <a:chExt cx="904687" cy="9046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04748" cy="904748"/>
            </a:xfrm>
            <a:custGeom>
              <a:avLst/>
              <a:gdLst/>
              <a:ahLst/>
              <a:cxnLst/>
              <a:rect l="l" t="t" r="r" b="b"/>
              <a:pathLst>
                <a:path w="904748" h="904748">
                  <a:moveTo>
                    <a:pt x="0" y="0"/>
                  </a:moveTo>
                  <a:lnTo>
                    <a:pt x="904748" y="0"/>
                  </a:lnTo>
                  <a:lnTo>
                    <a:pt x="904748" y="904748"/>
                  </a:lnTo>
                  <a:lnTo>
                    <a:pt x="0" y="904748"/>
                  </a:lnTo>
                  <a:lnTo>
                    <a:pt x="0" y="0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413970" y="392261"/>
            <a:ext cx="3940574" cy="920695"/>
            <a:chOff x="0" y="0"/>
            <a:chExt cx="5254098" cy="1227593"/>
          </a:xfrm>
        </p:grpSpPr>
        <p:sp>
          <p:nvSpPr>
            <p:cNvPr id="10" name="Freeform 10" descr="Logo  Description automatically generated with medium confidence"/>
            <p:cNvSpPr/>
            <p:nvPr/>
          </p:nvSpPr>
          <p:spPr>
            <a:xfrm>
              <a:off x="0" y="0"/>
              <a:ext cx="5254117" cy="1227582"/>
            </a:xfrm>
            <a:custGeom>
              <a:avLst/>
              <a:gdLst/>
              <a:ahLst/>
              <a:cxnLst/>
              <a:rect l="l" t="t" r="r" b="b"/>
              <a:pathLst>
                <a:path w="5254117" h="1227582">
                  <a:moveTo>
                    <a:pt x="0" y="0"/>
                  </a:moveTo>
                  <a:lnTo>
                    <a:pt x="5254117" y="0"/>
                  </a:lnTo>
                  <a:lnTo>
                    <a:pt x="5254117" y="1227582"/>
                  </a:lnTo>
                  <a:lnTo>
                    <a:pt x="0" y="12275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5" r="-5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848017" y="2485790"/>
            <a:ext cx="10591967" cy="521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55"/>
              </a:lnSpc>
            </a:pPr>
            <a:r>
              <a:rPr lang="en-US" sz="4125" b="1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Check Garden’s costs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15930" y="554473"/>
            <a:ext cx="4972908" cy="250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70"/>
              </a:lnSpc>
            </a:pPr>
            <a:r>
              <a:rPr lang="en-US" sz="172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EECE 490 · Stories Coffee Hackathon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035808"/>
            <a:ext cx="15544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22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Same sandwich, two price tags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31920"/>
            <a:ext cx="7863840" cy="3337560"/>
          </a:xfrm>
          <a:prstGeom prst="roundRect">
            <a:avLst>
              <a:gd name="adj" fmla="val 6000"/>
            </a:avLst>
          </a:prstGeom>
          <a:solidFill>
            <a:srgbClr val="F7EE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" y="4251960"/>
            <a:ext cx="731520" cy="731520"/>
          </a:xfrm>
          <a:prstGeom prst="ellipse">
            <a:avLst/>
          </a:prstGeom>
          <a:solidFill>
            <a:srgbClr val="84003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6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4315968"/>
            <a:ext cx="6126479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 plain words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212080"/>
            <a:ext cx="7132320" cy="1920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5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Garden and Harbour sell the same 45 products. But Garden’s books say each one costs it about 43% more to make. Find out why before changing anything.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977639"/>
            <a:ext cx="4023360" cy="1325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66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1.43×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5394960"/>
            <a:ext cx="3840480" cy="1737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Garden’s cost vs Harbour’s, on every single product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78840" y="3977639"/>
            <a:ext cx="4023360" cy="1325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66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$4K–16K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78840" y="5394960"/>
            <a:ext cx="3840480" cy="1737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extra profit per 6 months if some or all of the gap is real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7589520"/>
            <a:ext cx="16916400" cy="1691640"/>
          </a:xfrm>
          <a:prstGeom prst="roundRect">
            <a:avLst>
              <a:gd name="adj" fmla="val 8000"/>
            </a:avLst>
          </a:prstGeom>
          <a:solidFill>
            <a:srgbClr val="8400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7754112"/>
            <a:ext cx="16093440" cy="137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sz="22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Try this  </a:t>
            </a:r>
            <a:r>
              <a:rPr sz="2200" b="0" i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Trace the top five products (Iced Matcha first) from the till’s cost list to the supplier invoices.</a:t>
            </a:r>
          </a:p>
          <a:p>
            <a:pPr algn="l">
              <a:lnSpc>
                <a:spcPct val="108000"/>
              </a:lnSpc>
              <a:spcBef>
                <a:spcPts val="600"/>
              </a:spcBef>
            </a:pPr>
            <a:r>
              <a:rPr sz="22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Stop if  </a:t>
            </a:r>
            <a:r>
              <a:rPr sz="2000" b="0" i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invoices show it’s only an accounting rule. Then the real saving is $0.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811" y="1702796"/>
            <a:ext cx="17986378" cy="8413793"/>
            <a:chOff x="0" y="0"/>
            <a:chExt cx="23981838" cy="11218391"/>
          </a:xfrm>
        </p:grpSpPr>
        <p:sp>
          <p:nvSpPr>
            <p:cNvPr id="3" name="Freeform 3"/>
            <p:cNvSpPr/>
            <p:nvPr/>
          </p:nvSpPr>
          <p:spPr>
            <a:xfrm>
              <a:off x="6350" y="6350"/>
              <a:ext cx="23969090" cy="11205718"/>
            </a:xfrm>
            <a:custGeom>
              <a:avLst/>
              <a:gdLst/>
              <a:ahLst/>
              <a:cxnLst/>
              <a:rect l="l" t="t" r="r" b="b"/>
              <a:pathLst>
                <a:path w="23969090" h="11205718">
                  <a:moveTo>
                    <a:pt x="0" y="0"/>
                  </a:moveTo>
                  <a:lnTo>
                    <a:pt x="23969090" y="0"/>
                  </a:lnTo>
                  <a:lnTo>
                    <a:pt x="23969090" y="11205718"/>
                  </a:lnTo>
                  <a:lnTo>
                    <a:pt x="0" y="112057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4043000" y="968031"/>
            <a:ext cx="2955635" cy="123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80"/>
              </a:lnSpc>
            </a:pPr>
            <a:r>
              <a:rPr lang="en-US" sz="900" b="1">
                <a:solidFill>
                  <a:srgbClr val="92929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ⓒ</a:t>
            </a:r>
            <a:r>
              <a:rPr lang="en-US" sz="900">
                <a:solidFill>
                  <a:srgbClr val="92929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All rights reserved. American University of Beirut 2026.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960368" y="841018"/>
            <a:ext cx="5084033" cy="19050"/>
            <a:chOff x="0" y="0"/>
            <a:chExt cx="6778711" cy="25400"/>
          </a:xfrm>
        </p:grpSpPr>
        <p:sp>
          <p:nvSpPr>
            <p:cNvPr id="6" name="Freeform 6"/>
            <p:cNvSpPr/>
            <p:nvPr/>
          </p:nvSpPr>
          <p:spPr>
            <a:xfrm>
              <a:off x="12700" y="0"/>
              <a:ext cx="6753352" cy="25400"/>
            </a:xfrm>
            <a:custGeom>
              <a:avLst/>
              <a:gdLst/>
              <a:ahLst/>
              <a:cxnLst/>
              <a:rect l="l" t="t" r="r" b="b"/>
              <a:pathLst>
                <a:path w="6753352" h="25400">
                  <a:moveTo>
                    <a:pt x="0" y="0"/>
                  </a:moveTo>
                  <a:lnTo>
                    <a:pt x="6753352" y="0"/>
                  </a:lnTo>
                  <a:lnTo>
                    <a:pt x="6753352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7195515" y="501549"/>
            <a:ext cx="678515" cy="678515"/>
            <a:chOff x="0" y="0"/>
            <a:chExt cx="904687" cy="9046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04748" cy="904748"/>
            </a:xfrm>
            <a:custGeom>
              <a:avLst/>
              <a:gdLst/>
              <a:ahLst/>
              <a:cxnLst/>
              <a:rect l="l" t="t" r="r" b="b"/>
              <a:pathLst>
                <a:path w="904748" h="904748">
                  <a:moveTo>
                    <a:pt x="0" y="0"/>
                  </a:moveTo>
                  <a:lnTo>
                    <a:pt x="904748" y="0"/>
                  </a:lnTo>
                  <a:lnTo>
                    <a:pt x="904748" y="904748"/>
                  </a:lnTo>
                  <a:lnTo>
                    <a:pt x="0" y="904748"/>
                  </a:lnTo>
                  <a:lnTo>
                    <a:pt x="0" y="0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413970" y="392261"/>
            <a:ext cx="3940574" cy="920695"/>
            <a:chOff x="0" y="0"/>
            <a:chExt cx="5254098" cy="1227593"/>
          </a:xfrm>
        </p:grpSpPr>
        <p:sp>
          <p:nvSpPr>
            <p:cNvPr id="10" name="Freeform 10" descr="Logo  Description automatically generated with medium confidence"/>
            <p:cNvSpPr/>
            <p:nvPr/>
          </p:nvSpPr>
          <p:spPr>
            <a:xfrm>
              <a:off x="0" y="0"/>
              <a:ext cx="5254117" cy="1227582"/>
            </a:xfrm>
            <a:custGeom>
              <a:avLst/>
              <a:gdLst/>
              <a:ahLst/>
              <a:cxnLst/>
              <a:rect l="l" t="t" r="r" b="b"/>
              <a:pathLst>
                <a:path w="5254117" h="1227582">
                  <a:moveTo>
                    <a:pt x="0" y="0"/>
                  </a:moveTo>
                  <a:lnTo>
                    <a:pt x="5254117" y="0"/>
                  </a:lnTo>
                  <a:lnTo>
                    <a:pt x="5254117" y="1227582"/>
                  </a:lnTo>
                  <a:lnTo>
                    <a:pt x="0" y="12275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5" r="-5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848017" y="2485790"/>
            <a:ext cx="10591967" cy="521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55"/>
              </a:lnSpc>
            </a:pPr>
            <a:r>
              <a:rPr lang="en-US" sz="4125" b="1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Plan by the clock, not the weather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15930" y="554473"/>
            <a:ext cx="4972908" cy="250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70"/>
              </a:lnSpc>
            </a:pPr>
            <a:r>
              <a:rPr lang="en-US" sz="172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EECE 490 · Stories Coffee Hackathon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035808"/>
            <a:ext cx="15544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22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Stories is busiest at 9 PM, every day, rain or shine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31920"/>
            <a:ext cx="7863840" cy="3337560"/>
          </a:xfrm>
          <a:prstGeom prst="roundRect">
            <a:avLst>
              <a:gd name="adj" fmla="val 6000"/>
            </a:avLst>
          </a:prstGeom>
          <a:solidFill>
            <a:srgbClr val="F7EE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" y="4251960"/>
            <a:ext cx="731520" cy="731520"/>
          </a:xfrm>
          <a:prstGeom prst="ellipse">
            <a:avLst/>
          </a:prstGeom>
          <a:solidFill>
            <a:srgbClr val="84003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6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4315968"/>
            <a:ext cx="6126479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 plain words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212080"/>
            <a:ext cx="7132320" cy="1920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5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Rain, heat, dust and holidays barely change sales. The time of day does. So staff, ice, desserts and seats should follow the clock.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9720" y="6279283"/>
            <a:ext cx="406101" cy="441556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23960" y="6793992"/>
            <a:ext cx="1137621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1500" b="0" i="0">
                <a:solidFill>
                  <a:srgbClr val="6B6B6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7 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87261" y="6086559"/>
            <a:ext cx="406101" cy="63428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184802" y="5785885"/>
            <a:ext cx="406101" cy="934954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682343" y="5818209"/>
            <a:ext cx="406101" cy="90263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179884" y="5816380"/>
            <a:ext cx="406101" cy="904459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677425" y="5783446"/>
            <a:ext cx="406101" cy="937393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11665" y="6793992"/>
            <a:ext cx="1137621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1500" b="0" i="0">
                <a:solidFill>
                  <a:srgbClr val="6B6B6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Noon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174967" y="5629755"/>
            <a:ext cx="406101" cy="1091084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2672508" y="5635854"/>
            <a:ext cx="406101" cy="1084985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170049" y="5632194"/>
            <a:ext cx="406101" cy="1088645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3667590" y="5587673"/>
            <a:ext cx="406101" cy="1133166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4165131" y="5614508"/>
            <a:ext cx="406101" cy="1106331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99371" y="6793992"/>
            <a:ext cx="1137621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1500" b="0" i="0">
                <a:solidFill>
                  <a:srgbClr val="6B6B6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5 PM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662672" y="5449838"/>
            <a:ext cx="406101" cy="1271001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5160214" y="5143676"/>
            <a:ext cx="406101" cy="1577163"/>
          </a:xfrm>
          <a:prstGeom prst="rect">
            <a:avLst/>
          </a:prstGeom>
          <a:solidFill>
            <a:srgbClr val="8400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5657755" y="4778355"/>
            <a:ext cx="406101" cy="1942484"/>
          </a:xfrm>
          <a:prstGeom prst="rect">
            <a:avLst/>
          </a:prstGeom>
          <a:solidFill>
            <a:srgbClr val="8400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155296" y="4114800"/>
            <a:ext cx="406101" cy="2606040"/>
          </a:xfrm>
          <a:prstGeom prst="rect">
            <a:avLst/>
          </a:prstGeom>
          <a:solidFill>
            <a:srgbClr val="8400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5789536" y="6793992"/>
            <a:ext cx="1137621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1500" b="0" i="0">
                <a:solidFill>
                  <a:srgbClr val="6B6B6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9 PM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652837" y="4735663"/>
            <a:ext cx="406101" cy="1985176"/>
          </a:xfrm>
          <a:prstGeom prst="rect">
            <a:avLst/>
          </a:prstGeom>
          <a:solidFill>
            <a:srgbClr val="8400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7150378" y="5695012"/>
            <a:ext cx="406101" cy="1025827"/>
          </a:xfrm>
          <a:prstGeom prst="rect">
            <a:avLst/>
          </a:prstGeom>
          <a:solidFill>
            <a:srgbClr val="8400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0" y="3977639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4,273</a:t>
            </a:r>
            <a:r>
              <a:rPr sz="18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orders at 9 PM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46177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800" b="0" i="0">
                <a:solidFill>
                  <a:srgbClr val="6B6B6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vs 724 at 7 AM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7086600"/>
            <a:ext cx="8458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6B6B6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Orders per hour, Jan–Jun 2026. Maroon = 7 PM to midnight: 44.6% of all profit.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" y="7589520"/>
            <a:ext cx="16916400" cy="1691640"/>
          </a:xfrm>
          <a:prstGeom prst="roundRect">
            <a:avLst>
              <a:gd name="adj" fmla="val 8000"/>
            </a:avLst>
          </a:prstGeom>
          <a:solidFill>
            <a:srgbClr val="8400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7280" y="7754112"/>
            <a:ext cx="16093440" cy="137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sz="22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Try this  </a:t>
            </a:r>
            <a:r>
              <a:rPr sz="2200" b="0" i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Roster staff, ice, cold-brew prep, desserts and seating from our hour-by-weekday template.</a:t>
            </a:r>
          </a:p>
          <a:p>
            <a:pPr algn="l">
              <a:lnSpc>
                <a:spcPct val="108000"/>
              </a:lnSpc>
              <a:spcBef>
                <a:spcPts val="600"/>
              </a:spcBef>
            </a:pPr>
            <a:r>
              <a:rPr sz="22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Stop if  </a:t>
            </a:r>
            <a:r>
              <a:rPr sz="2000" b="0" i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logged lost orders at the evening peak don’t cover the extra staff cost.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811" y="1702796"/>
            <a:ext cx="17986378" cy="8413793"/>
            <a:chOff x="0" y="0"/>
            <a:chExt cx="23981838" cy="11218391"/>
          </a:xfrm>
        </p:grpSpPr>
        <p:sp>
          <p:nvSpPr>
            <p:cNvPr id="3" name="Freeform 3"/>
            <p:cNvSpPr/>
            <p:nvPr/>
          </p:nvSpPr>
          <p:spPr>
            <a:xfrm>
              <a:off x="6350" y="6350"/>
              <a:ext cx="23969090" cy="11205718"/>
            </a:xfrm>
            <a:custGeom>
              <a:avLst/>
              <a:gdLst/>
              <a:ahLst/>
              <a:cxnLst/>
              <a:rect l="l" t="t" r="r" b="b"/>
              <a:pathLst>
                <a:path w="23969090" h="11205718">
                  <a:moveTo>
                    <a:pt x="0" y="0"/>
                  </a:moveTo>
                  <a:lnTo>
                    <a:pt x="23969090" y="0"/>
                  </a:lnTo>
                  <a:lnTo>
                    <a:pt x="23969090" y="11205718"/>
                  </a:lnTo>
                  <a:lnTo>
                    <a:pt x="0" y="112057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4043000" y="968031"/>
            <a:ext cx="2955635" cy="123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80"/>
              </a:lnSpc>
            </a:pPr>
            <a:r>
              <a:rPr lang="en-US" sz="900" b="1">
                <a:solidFill>
                  <a:srgbClr val="92929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ⓒ</a:t>
            </a:r>
            <a:r>
              <a:rPr lang="en-US" sz="900">
                <a:solidFill>
                  <a:srgbClr val="92929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All rights reserved. American University of Beirut 2026.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960368" y="841018"/>
            <a:ext cx="5084033" cy="19050"/>
            <a:chOff x="0" y="0"/>
            <a:chExt cx="6778711" cy="25400"/>
          </a:xfrm>
        </p:grpSpPr>
        <p:sp>
          <p:nvSpPr>
            <p:cNvPr id="6" name="Freeform 6"/>
            <p:cNvSpPr/>
            <p:nvPr/>
          </p:nvSpPr>
          <p:spPr>
            <a:xfrm>
              <a:off x="12700" y="0"/>
              <a:ext cx="6753352" cy="25400"/>
            </a:xfrm>
            <a:custGeom>
              <a:avLst/>
              <a:gdLst/>
              <a:ahLst/>
              <a:cxnLst/>
              <a:rect l="l" t="t" r="r" b="b"/>
              <a:pathLst>
                <a:path w="6753352" h="25400">
                  <a:moveTo>
                    <a:pt x="0" y="0"/>
                  </a:moveTo>
                  <a:lnTo>
                    <a:pt x="6753352" y="0"/>
                  </a:lnTo>
                  <a:lnTo>
                    <a:pt x="6753352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7195515" y="501549"/>
            <a:ext cx="678515" cy="678515"/>
            <a:chOff x="0" y="0"/>
            <a:chExt cx="904687" cy="9046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04748" cy="904748"/>
            </a:xfrm>
            <a:custGeom>
              <a:avLst/>
              <a:gdLst/>
              <a:ahLst/>
              <a:cxnLst/>
              <a:rect l="l" t="t" r="r" b="b"/>
              <a:pathLst>
                <a:path w="904748" h="904748">
                  <a:moveTo>
                    <a:pt x="0" y="0"/>
                  </a:moveTo>
                  <a:lnTo>
                    <a:pt x="904748" y="0"/>
                  </a:lnTo>
                  <a:lnTo>
                    <a:pt x="904748" y="904748"/>
                  </a:lnTo>
                  <a:lnTo>
                    <a:pt x="0" y="904748"/>
                  </a:lnTo>
                  <a:lnTo>
                    <a:pt x="0" y="0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413970" y="392261"/>
            <a:ext cx="3940574" cy="920695"/>
            <a:chOff x="0" y="0"/>
            <a:chExt cx="5254098" cy="1227593"/>
          </a:xfrm>
        </p:grpSpPr>
        <p:sp>
          <p:nvSpPr>
            <p:cNvPr id="10" name="Freeform 10" descr="Logo  Description automatically generated with medium confidence"/>
            <p:cNvSpPr/>
            <p:nvPr/>
          </p:nvSpPr>
          <p:spPr>
            <a:xfrm>
              <a:off x="0" y="0"/>
              <a:ext cx="5254117" cy="1227582"/>
            </a:xfrm>
            <a:custGeom>
              <a:avLst/>
              <a:gdLst/>
              <a:ahLst/>
              <a:cxnLst/>
              <a:rect l="l" t="t" r="r" b="b"/>
              <a:pathLst>
                <a:path w="5254117" h="1227582">
                  <a:moveTo>
                    <a:pt x="0" y="0"/>
                  </a:moveTo>
                  <a:lnTo>
                    <a:pt x="5254117" y="0"/>
                  </a:lnTo>
                  <a:lnTo>
                    <a:pt x="5254117" y="1227582"/>
                  </a:lnTo>
                  <a:lnTo>
                    <a:pt x="0" y="12275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5" r="-5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848017" y="2485790"/>
            <a:ext cx="10591967" cy="521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55"/>
              </a:lnSpc>
            </a:pPr>
            <a:r>
              <a:rPr lang="en-US" sz="4125" b="1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Give discounts when the shop is quiet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15930" y="554473"/>
            <a:ext cx="4972908" cy="250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70"/>
              </a:lnSpc>
            </a:pPr>
            <a:r>
              <a:rPr lang="en-US" sz="172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EECE 490 · Stories Coffee Hackathon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035808"/>
            <a:ext cx="15544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22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Don’t pay people to do what they’d do anyway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31920"/>
            <a:ext cx="7863840" cy="3337560"/>
          </a:xfrm>
          <a:prstGeom prst="roundRect">
            <a:avLst>
              <a:gd name="adj" fmla="val 6000"/>
            </a:avLst>
          </a:prstGeom>
          <a:solidFill>
            <a:srgbClr val="F7EE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" y="4251960"/>
            <a:ext cx="731520" cy="731520"/>
          </a:xfrm>
          <a:prstGeom prst="ellipse">
            <a:avLst/>
          </a:prstGeom>
          <a:solidFill>
            <a:srgbClr val="84003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6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4315968"/>
            <a:ext cx="6126479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 plain words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212080"/>
            <a:ext cx="7132320" cy="1920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5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Half our discounts go to evening customers, who would come anyway. Move the same discount to quiet mornings and weekends, and stop the 15% campaigns.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977639"/>
            <a:ext cx="4023360" cy="1325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66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52%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5394960"/>
            <a:ext cx="3840480" cy="1737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of discounted items sold in the busy evening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78840" y="3977639"/>
            <a:ext cx="4023360" cy="1325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66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$0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78840" y="5394960"/>
            <a:ext cx="3840480" cy="1737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measurable profit gained from the 15% campaigns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7589520"/>
            <a:ext cx="16916400" cy="1691640"/>
          </a:xfrm>
          <a:prstGeom prst="roundRect">
            <a:avLst>
              <a:gd name="adj" fmla="val 8000"/>
            </a:avLst>
          </a:prstGeom>
          <a:solidFill>
            <a:srgbClr val="8400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7754112"/>
            <a:ext cx="16093440" cy="137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sz="22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Try this  </a:t>
            </a:r>
            <a:r>
              <a:rPr sz="2200" b="0" i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At one branch for four weeks, offer the 10% only before 11 AM and on Saturdays. Other branches act as the comparison.</a:t>
            </a:r>
          </a:p>
          <a:p>
            <a:pPr algn="l">
              <a:lnSpc>
                <a:spcPct val="108000"/>
              </a:lnSpc>
              <a:spcBef>
                <a:spcPts val="600"/>
              </a:spcBef>
            </a:pPr>
            <a:r>
              <a:rPr sz="22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Stop if  </a:t>
            </a:r>
            <a:r>
              <a:rPr sz="2000" b="0" i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profit per visitor doesn’t beat the comparison branches.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811" y="1702796"/>
            <a:ext cx="17986378" cy="8413793"/>
            <a:chOff x="0" y="0"/>
            <a:chExt cx="23981838" cy="11218391"/>
          </a:xfrm>
        </p:grpSpPr>
        <p:sp>
          <p:nvSpPr>
            <p:cNvPr id="3" name="Freeform 3"/>
            <p:cNvSpPr/>
            <p:nvPr/>
          </p:nvSpPr>
          <p:spPr>
            <a:xfrm>
              <a:off x="6350" y="6350"/>
              <a:ext cx="23969090" cy="11205718"/>
            </a:xfrm>
            <a:custGeom>
              <a:avLst/>
              <a:gdLst/>
              <a:ahLst/>
              <a:cxnLst/>
              <a:rect l="l" t="t" r="r" b="b"/>
              <a:pathLst>
                <a:path w="23969090" h="11205718">
                  <a:moveTo>
                    <a:pt x="0" y="0"/>
                  </a:moveTo>
                  <a:lnTo>
                    <a:pt x="23969090" y="0"/>
                  </a:lnTo>
                  <a:lnTo>
                    <a:pt x="23969090" y="11205718"/>
                  </a:lnTo>
                  <a:lnTo>
                    <a:pt x="0" y="112057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4043000" y="968031"/>
            <a:ext cx="2955635" cy="123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80"/>
              </a:lnSpc>
            </a:pPr>
            <a:r>
              <a:rPr lang="en-US" sz="900" b="1">
                <a:solidFill>
                  <a:srgbClr val="92929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ⓒ</a:t>
            </a:r>
            <a:r>
              <a:rPr lang="en-US" sz="900">
                <a:solidFill>
                  <a:srgbClr val="92929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All rights reserved. American University of Beirut 2026.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960368" y="841018"/>
            <a:ext cx="5084033" cy="19050"/>
            <a:chOff x="0" y="0"/>
            <a:chExt cx="6778711" cy="25400"/>
          </a:xfrm>
        </p:grpSpPr>
        <p:sp>
          <p:nvSpPr>
            <p:cNvPr id="6" name="Freeform 6"/>
            <p:cNvSpPr/>
            <p:nvPr/>
          </p:nvSpPr>
          <p:spPr>
            <a:xfrm>
              <a:off x="12700" y="0"/>
              <a:ext cx="6753352" cy="25400"/>
            </a:xfrm>
            <a:custGeom>
              <a:avLst/>
              <a:gdLst/>
              <a:ahLst/>
              <a:cxnLst/>
              <a:rect l="l" t="t" r="r" b="b"/>
              <a:pathLst>
                <a:path w="6753352" h="25400">
                  <a:moveTo>
                    <a:pt x="0" y="0"/>
                  </a:moveTo>
                  <a:lnTo>
                    <a:pt x="6753352" y="0"/>
                  </a:lnTo>
                  <a:lnTo>
                    <a:pt x="6753352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7195515" y="501549"/>
            <a:ext cx="678515" cy="678515"/>
            <a:chOff x="0" y="0"/>
            <a:chExt cx="904687" cy="9046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04748" cy="904748"/>
            </a:xfrm>
            <a:custGeom>
              <a:avLst/>
              <a:gdLst/>
              <a:ahLst/>
              <a:cxnLst/>
              <a:rect l="l" t="t" r="r" b="b"/>
              <a:pathLst>
                <a:path w="904748" h="904748">
                  <a:moveTo>
                    <a:pt x="0" y="0"/>
                  </a:moveTo>
                  <a:lnTo>
                    <a:pt x="904748" y="0"/>
                  </a:lnTo>
                  <a:lnTo>
                    <a:pt x="904748" y="904748"/>
                  </a:lnTo>
                  <a:lnTo>
                    <a:pt x="0" y="904748"/>
                  </a:lnTo>
                  <a:lnTo>
                    <a:pt x="0" y="0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413970" y="392261"/>
            <a:ext cx="3940574" cy="920695"/>
            <a:chOff x="0" y="0"/>
            <a:chExt cx="5254098" cy="1227593"/>
          </a:xfrm>
        </p:grpSpPr>
        <p:sp>
          <p:nvSpPr>
            <p:cNvPr id="10" name="Freeform 10" descr="Logo  Description automatically generated with medium confidence"/>
            <p:cNvSpPr/>
            <p:nvPr/>
          </p:nvSpPr>
          <p:spPr>
            <a:xfrm>
              <a:off x="0" y="0"/>
              <a:ext cx="5254117" cy="1227582"/>
            </a:xfrm>
            <a:custGeom>
              <a:avLst/>
              <a:gdLst/>
              <a:ahLst/>
              <a:cxnLst/>
              <a:rect l="l" t="t" r="r" b="b"/>
              <a:pathLst>
                <a:path w="5254117" h="1227582">
                  <a:moveTo>
                    <a:pt x="0" y="0"/>
                  </a:moveTo>
                  <a:lnTo>
                    <a:pt x="5254117" y="0"/>
                  </a:lnTo>
                  <a:lnTo>
                    <a:pt x="5254117" y="1227582"/>
                  </a:lnTo>
                  <a:lnTo>
                    <a:pt x="0" y="12275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5" r="-5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848017" y="2485790"/>
            <a:ext cx="10591967" cy="521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55"/>
              </a:lnSpc>
            </a:pPr>
            <a:r>
              <a:rPr lang="en-US" sz="4125" b="1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Ask “want a pastry?” in the evening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15930" y="554473"/>
            <a:ext cx="4972908" cy="250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70"/>
              </a:lnSpc>
            </a:pPr>
            <a:r>
              <a:rPr lang="en-US" sz="172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EECE 490 · Stories Coffee Hackathon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035808"/>
            <a:ext cx="15544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22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 free question, not a discount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31920"/>
            <a:ext cx="7863840" cy="3337560"/>
          </a:xfrm>
          <a:prstGeom prst="roundRect">
            <a:avLst>
              <a:gd name="adj" fmla="val 6000"/>
            </a:avLst>
          </a:prstGeom>
          <a:solidFill>
            <a:srgbClr val="F7EE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" y="4251960"/>
            <a:ext cx="731520" cy="731520"/>
          </a:xfrm>
          <a:prstGeom prst="ellipse">
            <a:avLst/>
          </a:prstGeom>
          <a:solidFill>
            <a:srgbClr val="84003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6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4315968"/>
            <a:ext cx="6126479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 plain words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212080"/>
            <a:ext cx="7132320" cy="1920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5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 the evening people sit down with a cold coffee. Staff simply ask if they’d like a pastry with it. No discount, so every extra pastry is pure extra profit.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977639"/>
            <a:ext cx="4023360" cy="1325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66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44.6%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5394960"/>
            <a:ext cx="3840480" cy="1737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of all profit is made between 7 PM and midnight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78840" y="3977639"/>
            <a:ext cx="4023360" cy="1325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66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66%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78840" y="5394960"/>
            <a:ext cx="3840480" cy="1737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profit margin on Cold Coffee + Bakery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7589520"/>
            <a:ext cx="16916400" cy="1691640"/>
          </a:xfrm>
          <a:prstGeom prst="roundRect">
            <a:avLst>
              <a:gd name="adj" fmla="val 8000"/>
            </a:avLst>
          </a:prstGeom>
          <a:solidFill>
            <a:srgbClr val="8400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7754112"/>
            <a:ext cx="16093440" cy="137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sz="22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Try this  </a:t>
            </a:r>
            <a:r>
              <a:rPr sz="2200" b="0" i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 scripted pastry prompt from 7 to 11 PM, on alternating weeks, with no discount.</a:t>
            </a:r>
          </a:p>
          <a:p>
            <a:pPr algn="l">
              <a:lnSpc>
                <a:spcPct val="108000"/>
              </a:lnSpc>
              <a:spcBef>
                <a:spcPts val="600"/>
              </a:spcBef>
            </a:pPr>
            <a:r>
              <a:rPr sz="22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Stop if  </a:t>
            </a:r>
            <a:r>
              <a:rPr sz="2000" b="0" i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it slows the queue at the peak more than the extra pastries earn.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811" y="1702796"/>
            <a:ext cx="17986378" cy="8413793"/>
            <a:chOff x="0" y="0"/>
            <a:chExt cx="23981838" cy="11218391"/>
          </a:xfrm>
        </p:grpSpPr>
        <p:sp>
          <p:nvSpPr>
            <p:cNvPr id="3" name="Freeform 3"/>
            <p:cNvSpPr/>
            <p:nvPr/>
          </p:nvSpPr>
          <p:spPr>
            <a:xfrm>
              <a:off x="6350" y="6350"/>
              <a:ext cx="23969090" cy="11205718"/>
            </a:xfrm>
            <a:custGeom>
              <a:avLst/>
              <a:gdLst/>
              <a:ahLst/>
              <a:cxnLst/>
              <a:rect l="l" t="t" r="r" b="b"/>
              <a:pathLst>
                <a:path w="23969090" h="11205718">
                  <a:moveTo>
                    <a:pt x="0" y="0"/>
                  </a:moveTo>
                  <a:lnTo>
                    <a:pt x="23969090" y="0"/>
                  </a:lnTo>
                  <a:lnTo>
                    <a:pt x="23969090" y="11205718"/>
                  </a:lnTo>
                  <a:lnTo>
                    <a:pt x="0" y="112057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4043000" y="968031"/>
            <a:ext cx="2955635" cy="123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80"/>
              </a:lnSpc>
            </a:pPr>
            <a:r>
              <a:rPr lang="en-US" sz="900" b="1">
                <a:solidFill>
                  <a:srgbClr val="92929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ⓒ</a:t>
            </a:r>
            <a:r>
              <a:rPr lang="en-US" sz="900">
                <a:solidFill>
                  <a:srgbClr val="92929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All rights reserved. American University of Beirut 2026.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960368" y="841018"/>
            <a:ext cx="5084033" cy="19050"/>
            <a:chOff x="0" y="0"/>
            <a:chExt cx="6778711" cy="25400"/>
          </a:xfrm>
        </p:grpSpPr>
        <p:sp>
          <p:nvSpPr>
            <p:cNvPr id="6" name="Freeform 6"/>
            <p:cNvSpPr/>
            <p:nvPr/>
          </p:nvSpPr>
          <p:spPr>
            <a:xfrm>
              <a:off x="12700" y="0"/>
              <a:ext cx="6753352" cy="25400"/>
            </a:xfrm>
            <a:custGeom>
              <a:avLst/>
              <a:gdLst/>
              <a:ahLst/>
              <a:cxnLst/>
              <a:rect l="l" t="t" r="r" b="b"/>
              <a:pathLst>
                <a:path w="6753352" h="25400">
                  <a:moveTo>
                    <a:pt x="0" y="0"/>
                  </a:moveTo>
                  <a:lnTo>
                    <a:pt x="6753352" y="0"/>
                  </a:lnTo>
                  <a:lnTo>
                    <a:pt x="6753352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7195515" y="501549"/>
            <a:ext cx="678515" cy="678515"/>
            <a:chOff x="0" y="0"/>
            <a:chExt cx="904687" cy="9046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04748" cy="904748"/>
            </a:xfrm>
            <a:custGeom>
              <a:avLst/>
              <a:gdLst/>
              <a:ahLst/>
              <a:cxnLst/>
              <a:rect l="l" t="t" r="r" b="b"/>
              <a:pathLst>
                <a:path w="904748" h="904748">
                  <a:moveTo>
                    <a:pt x="0" y="0"/>
                  </a:moveTo>
                  <a:lnTo>
                    <a:pt x="904748" y="0"/>
                  </a:lnTo>
                  <a:lnTo>
                    <a:pt x="904748" y="904748"/>
                  </a:lnTo>
                  <a:lnTo>
                    <a:pt x="0" y="904748"/>
                  </a:lnTo>
                  <a:lnTo>
                    <a:pt x="0" y="0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413970" y="392261"/>
            <a:ext cx="3940574" cy="920695"/>
            <a:chOff x="0" y="0"/>
            <a:chExt cx="5254098" cy="1227593"/>
          </a:xfrm>
        </p:grpSpPr>
        <p:sp>
          <p:nvSpPr>
            <p:cNvPr id="10" name="Freeform 10" descr="Logo  Description automatically generated with medium confidence"/>
            <p:cNvSpPr/>
            <p:nvPr/>
          </p:nvSpPr>
          <p:spPr>
            <a:xfrm>
              <a:off x="0" y="0"/>
              <a:ext cx="5254117" cy="1227582"/>
            </a:xfrm>
            <a:custGeom>
              <a:avLst/>
              <a:gdLst/>
              <a:ahLst/>
              <a:cxnLst/>
              <a:rect l="l" t="t" r="r" b="b"/>
              <a:pathLst>
                <a:path w="5254117" h="1227582">
                  <a:moveTo>
                    <a:pt x="0" y="0"/>
                  </a:moveTo>
                  <a:lnTo>
                    <a:pt x="5254117" y="0"/>
                  </a:lnTo>
                  <a:lnTo>
                    <a:pt x="5254117" y="1227582"/>
                  </a:lnTo>
                  <a:lnTo>
                    <a:pt x="0" y="12275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5" r="-5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848017" y="2485790"/>
            <a:ext cx="10591967" cy="521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55"/>
              </a:lnSpc>
            </a:pPr>
            <a:r>
              <a:rPr lang="en-US" sz="4125" b="1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Test a 5% price rise at one branch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15930" y="554473"/>
            <a:ext cx="4972908" cy="250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70"/>
              </a:lnSpc>
            </a:pPr>
            <a:r>
              <a:rPr lang="en-US" sz="172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EECE 490 · Stories Coffee Hackathon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035808"/>
            <a:ext cx="15544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22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 $4.00 latte becomes $4.20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31920"/>
            <a:ext cx="7863840" cy="3337560"/>
          </a:xfrm>
          <a:prstGeom prst="roundRect">
            <a:avLst>
              <a:gd name="adj" fmla="val 6000"/>
            </a:avLst>
          </a:prstGeom>
          <a:solidFill>
            <a:srgbClr val="F7EE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" y="4251960"/>
            <a:ext cx="731520" cy="731520"/>
          </a:xfrm>
          <a:prstGeom prst="ellipse">
            <a:avLst/>
          </a:prstGeom>
          <a:solidFill>
            <a:srgbClr val="84003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6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4315968"/>
            <a:ext cx="6126479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 plain words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212080"/>
            <a:ext cx="7132320" cy="1920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5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 few cents more per item adds up to a lot of profit, as long as customers keep coming. Raise everything (coffee too) at one branch and watch sales.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977639"/>
            <a:ext cx="4023360" cy="1325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66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+$7,300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5394960"/>
            <a:ext cx="3840480" cy="1737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typical extra profit per 6 months, across 20,000 simulations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78840" y="3977639"/>
            <a:ext cx="4023360" cy="1325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66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78840" y="5394960"/>
            <a:ext cx="3840480" cy="1737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how far sales can drop before it stops paying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7589520"/>
            <a:ext cx="16916400" cy="1691640"/>
          </a:xfrm>
          <a:prstGeom prst="roundRect">
            <a:avLst>
              <a:gd name="adj" fmla="val 8000"/>
            </a:avLst>
          </a:prstGeom>
          <a:solidFill>
            <a:srgbClr val="8400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7754112"/>
            <a:ext cx="16093440" cy="137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sz="22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Try this  </a:t>
            </a:r>
            <a:r>
              <a:rPr sz="2200" b="0" i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Raise prices 5% at one branch for four weeks and tidy up odd price endings (e.g. $4.05).</a:t>
            </a:r>
          </a:p>
          <a:p>
            <a:pPr algn="l">
              <a:lnSpc>
                <a:spcPct val="108000"/>
              </a:lnSpc>
              <a:spcBef>
                <a:spcPts val="600"/>
              </a:spcBef>
            </a:pPr>
            <a:r>
              <a:rPr sz="22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Stop if  </a:t>
            </a:r>
            <a:r>
              <a:rPr sz="2000" b="0" i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baskets per day fall by more than about 8%.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811" y="1702796"/>
            <a:ext cx="17986378" cy="8413793"/>
            <a:chOff x="0" y="0"/>
            <a:chExt cx="23981838" cy="11218391"/>
          </a:xfrm>
        </p:grpSpPr>
        <p:sp>
          <p:nvSpPr>
            <p:cNvPr id="3" name="Freeform 3"/>
            <p:cNvSpPr/>
            <p:nvPr/>
          </p:nvSpPr>
          <p:spPr>
            <a:xfrm>
              <a:off x="6350" y="6350"/>
              <a:ext cx="23969090" cy="11205718"/>
            </a:xfrm>
            <a:custGeom>
              <a:avLst/>
              <a:gdLst/>
              <a:ahLst/>
              <a:cxnLst/>
              <a:rect l="l" t="t" r="r" b="b"/>
              <a:pathLst>
                <a:path w="23969090" h="11205718">
                  <a:moveTo>
                    <a:pt x="0" y="0"/>
                  </a:moveTo>
                  <a:lnTo>
                    <a:pt x="23969090" y="0"/>
                  </a:lnTo>
                  <a:lnTo>
                    <a:pt x="23969090" y="11205718"/>
                  </a:lnTo>
                  <a:lnTo>
                    <a:pt x="0" y="112057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4043000" y="968031"/>
            <a:ext cx="2955635" cy="123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80"/>
              </a:lnSpc>
            </a:pPr>
            <a:r>
              <a:rPr lang="en-US" sz="900" b="1">
                <a:solidFill>
                  <a:srgbClr val="92929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ⓒ</a:t>
            </a:r>
            <a:r>
              <a:rPr lang="en-US" sz="900">
                <a:solidFill>
                  <a:srgbClr val="92929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All rights reserved. American University of Beirut 2026.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960368" y="841018"/>
            <a:ext cx="5084033" cy="19050"/>
            <a:chOff x="0" y="0"/>
            <a:chExt cx="6778711" cy="25400"/>
          </a:xfrm>
        </p:grpSpPr>
        <p:sp>
          <p:nvSpPr>
            <p:cNvPr id="6" name="Freeform 6"/>
            <p:cNvSpPr/>
            <p:nvPr/>
          </p:nvSpPr>
          <p:spPr>
            <a:xfrm>
              <a:off x="12700" y="0"/>
              <a:ext cx="6753352" cy="25400"/>
            </a:xfrm>
            <a:custGeom>
              <a:avLst/>
              <a:gdLst/>
              <a:ahLst/>
              <a:cxnLst/>
              <a:rect l="l" t="t" r="r" b="b"/>
              <a:pathLst>
                <a:path w="6753352" h="25400">
                  <a:moveTo>
                    <a:pt x="0" y="0"/>
                  </a:moveTo>
                  <a:lnTo>
                    <a:pt x="6753352" y="0"/>
                  </a:lnTo>
                  <a:lnTo>
                    <a:pt x="6753352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7195515" y="501549"/>
            <a:ext cx="678515" cy="678515"/>
            <a:chOff x="0" y="0"/>
            <a:chExt cx="904687" cy="9046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04748" cy="904748"/>
            </a:xfrm>
            <a:custGeom>
              <a:avLst/>
              <a:gdLst/>
              <a:ahLst/>
              <a:cxnLst/>
              <a:rect l="l" t="t" r="r" b="b"/>
              <a:pathLst>
                <a:path w="904748" h="904748">
                  <a:moveTo>
                    <a:pt x="0" y="0"/>
                  </a:moveTo>
                  <a:lnTo>
                    <a:pt x="904748" y="0"/>
                  </a:lnTo>
                  <a:lnTo>
                    <a:pt x="904748" y="904748"/>
                  </a:lnTo>
                  <a:lnTo>
                    <a:pt x="0" y="904748"/>
                  </a:lnTo>
                  <a:lnTo>
                    <a:pt x="0" y="0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413970" y="392261"/>
            <a:ext cx="3940574" cy="920695"/>
            <a:chOff x="0" y="0"/>
            <a:chExt cx="5254098" cy="1227593"/>
          </a:xfrm>
        </p:grpSpPr>
        <p:sp>
          <p:nvSpPr>
            <p:cNvPr id="10" name="Freeform 10" descr="Logo  Description automatically generated with medium confidence"/>
            <p:cNvSpPr/>
            <p:nvPr/>
          </p:nvSpPr>
          <p:spPr>
            <a:xfrm>
              <a:off x="0" y="0"/>
              <a:ext cx="5254117" cy="1227582"/>
            </a:xfrm>
            <a:custGeom>
              <a:avLst/>
              <a:gdLst/>
              <a:ahLst/>
              <a:cxnLst/>
              <a:rect l="l" t="t" r="r" b="b"/>
              <a:pathLst>
                <a:path w="5254117" h="1227582">
                  <a:moveTo>
                    <a:pt x="0" y="0"/>
                  </a:moveTo>
                  <a:lnTo>
                    <a:pt x="5254117" y="0"/>
                  </a:lnTo>
                  <a:lnTo>
                    <a:pt x="5254117" y="1227582"/>
                  </a:lnTo>
                  <a:lnTo>
                    <a:pt x="0" y="12275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5" r="-5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848017" y="2485790"/>
            <a:ext cx="10591967" cy="521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55"/>
              </a:lnSpc>
            </a:pPr>
            <a:r>
              <a:rPr lang="en-US" sz="4125" b="1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Open later where mornings are empty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15930" y="554473"/>
            <a:ext cx="4972908" cy="250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70"/>
              </a:lnSpc>
            </a:pPr>
            <a:r>
              <a:rPr lang="en-US" sz="172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EECE 490 · Stories Coffee Hackathon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035808"/>
            <a:ext cx="15544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22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Don’t pay to keep the lights on for no 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31920"/>
            <a:ext cx="7863840" cy="3337560"/>
          </a:xfrm>
          <a:prstGeom prst="roundRect">
            <a:avLst>
              <a:gd name="adj" fmla="val 6000"/>
            </a:avLst>
          </a:prstGeom>
          <a:solidFill>
            <a:srgbClr val="F7EE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" y="4251960"/>
            <a:ext cx="731520" cy="731520"/>
          </a:xfrm>
          <a:prstGeom prst="ellipse">
            <a:avLst/>
          </a:prstGeom>
          <a:solidFill>
            <a:srgbClr val="84003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6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4315968"/>
            <a:ext cx="6126479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 plain words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212080"/>
            <a:ext cx="7132320" cy="1920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500" b="0" i="0">
                <a:solidFill>
                  <a:srgbClr val="1A1A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Uptown’s 7 AM hour earns about $4.37 but costs about $6.53 in staff and generator power. Opening a bit later saves money if those customers just come later.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977639"/>
            <a:ext cx="4023360" cy="1325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66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75%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5394960"/>
            <a:ext cx="3840480" cy="1737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of simulated futures where it makes 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78840" y="3977639"/>
            <a:ext cx="4023360" cy="1325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6600" b="1" i="0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+$656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78840" y="5394960"/>
            <a:ext cx="3840480" cy="1737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typical saving per 6 months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7589520"/>
            <a:ext cx="16916400" cy="1691640"/>
          </a:xfrm>
          <a:prstGeom prst="roundRect">
            <a:avLst>
              <a:gd name="adj" fmla="val 8000"/>
            </a:avLst>
          </a:prstGeom>
          <a:solidFill>
            <a:srgbClr val="8400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7754112"/>
            <a:ext cx="16093440" cy="137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sz="22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Try this  </a:t>
            </a:r>
            <a:r>
              <a:rPr sz="2200" b="0" i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Open Uptown at 9 AM and Garden at 8 AM for four weeks, after confirming the early-shift roster.</a:t>
            </a:r>
          </a:p>
          <a:p>
            <a:pPr algn="l">
              <a:lnSpc>
                <a:spcPct val="108000"/>
              </a:lnSpc>
              <a:spcBef>
                <a:spcPts val="600"/>
              </a:spcBef>
            </a:pPr>
            <a:r>
              <a:rPr sz="22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Stop if  </a:t>
            </a:r>
            <a:r>
              <a:rPr sz="2000" b="0" i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morning customers don’t come back later in the day.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811" y="1702796"/>
            <a:ext cx="17986378" cy="8413793"/>
            <a:chOff x="0" y="0"/>
            <a:chExt cx="23981838" cy="11218391"/>
          </a:xfrm>
        </p:grpSpPr>
        <p:sp>
          <p:nvSpPr>
            <p:cNvPr id="3" name="Freeform 3"/>
            <p:cNvSpPr/>
            <p:nvPr/>
          </p:nvSpPr>
          <p:spPr>
            <a:xfrm>
              <a:off x="6350" y="6350"/>
              <a:ext cx="23969090" cy="11205718"/>
            </a:xfrm>
            <a:custGeom>
              <a:avLst/>
              <a:gdLst/>
              <a:ahLst/>
              <a:cxnLst/>
              <a:rect l="l" t="t" r="r" b="b"/>
              <a:pathLst>
                <a:path w="23969090" h="11205718">
                  <a:moveTo>
                    <a:pt x="0" y="0"/>
                  </a:moveTo>
                  <a:lnTo>
                    <a:pt x="23969090" y="0"/>
                  </a:lnTo>
                  <a:lnTo>
                    <a:pt x="23969090" y="11205718"/>
                  </a:lnTo>
                  <a:lnTo>
                    <a:pt x="0" y="112057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4043000" y="968031"/>
            <a:ext cx="2955635" cy="123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80"/>
              </a:lnSpc>
            </a:pPr>
            <a:r>
              <a:rPr lang="en-US" sz="900" b="1">
                <a:solidFill>
                  <a:srgbClr val="92929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ⓒ</a:t>
            </a:r>
            <a:r>
              <a:rPr lang="en-US" sz="900">
                <a:solidFill>
                  <a:srgbClr val="92929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All rights reserved. American University of Beirut 2026.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960368" y="841018"/>
            <a:ext cx="5084033" cy="19050"/>
            <a:chOff x="0" y="0"/>
            <a:chExt cx="6778711" cy="25400"/>
          </a:xfrm>
        </p:grpSpPr>
        <p:sp>
          <p:nvSpPr>
            <p:cNvPr id="6" name="Freeform 6"/>
            <p:cNvSpPr/>
            <p:nvPr/>
          </p:nvSpPr>
          <p:spPr>
            <a:xfrm>
              <a:off x="12700" y="0"/>
              <a:ext cx="6753352" cy="25400"/>
            </a:xfrm>
            <a:custGeom>
              <a:avLst/>
              <a:gdLst/>
              <a:ahLst/>
              <a:cxnLst/>
              <a:rect l="l" t="t" r="r" b="b"/>
              <a:pathLst>
                <a:path w="6753352" h="25400">
                  <a:moveTo>
                    <a:pt x="0" y="0"/>
                  </a:moveTo>
                  <a:lnTo>
                    <a:pt x="6753352" y="0"/>
                  </a:lnTo>
                  <a:lnTo>
                    <a:pt x="6753352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7195515" y="501549"/>
            <a:ext cx="678515" cy="678515"/>
            <a:chOff x="0" y="0"/>
            <a:chExt cx="904687" cy="9046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04748" cy="904748"/>
            </a:xfrm>
            <a:custGeom>
              <a:avLst/>
              <a:gdLst/>
              <a:ahLst/>
              <a:cxnLst/>
              <a:rect l="l" t="t" r="r" b="b"/>
              <a:pathLst>
                <a:path w="904748" h="904748">
                  <a:moveTo>
                    <a:pt x="0" y="0"/>
                  </a:moveTo>
                  <a:lnTo>
                    <a:pt x="904748" y="0"/>
                  </a:lnTo>
                  <a:lnTo>
                    <a:pt x="904748" y="904748"/>
                  </a:lnTo>
                  <a:lnTo>
                    <a:pt x="0" y="904748"/>
                  </a:lnTo>
                  <a:lnTo>
                    <a:pt x="0" y="0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413970" y="392261"/>
            <a:ext cx="3940574" cy="920695"/>
            <a:chOff x="0" y="0"/>
            <a:chExt cx="5254098" cy="1227593"/>
          </a:xfrm>
        </p:grpSpPr>
        <p:sp>
          <p:nvSpPr>
            <p:cNvPr id="10" name="Freeform 10" descr="Logo  Description automatically generated with medium confidence"/>
            <p:cNvSpPr/>
            <p:nvPr/>
          </p:nvSpPr>
          <p:spPr>
            <a:xfrm>
              <a:off x="0" y="0"/>
              <a:ext cx="5254117" cy="1227582"/>
            </a:xfrm>
            <a:custGeom>
              <a:avLst/>
              <a:gdLst/>
              <a:ahLst/>
              <a:cxnLst/>
              <a:rect l="l" t="t" r="r" b="b"/>
              <a:pathLst>
                <a:path w="5254117" h="1227582">
                  <a:moveTo>
                    <a:pt x="0" y="0"/>
                  </a:moveTo>
                  <a:lnTo>
                    <a:pt x="5254117" y="0"/>
                  </a:lnTo>
                  <a:lnTo>
                    <a:pt x="5254117" y="1227582"/>
                  </a:lnTo>
                  <a:lnTo>
                    <a:pt x="0" y="12275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5" r="-5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848017" y="2485790"/>
            <a:ext cx="10591967" cy="521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55"/>
              </a:lnSpc>
            </a:pPr>
            <a:r>
              <a:rPr lang="en-US" sz="4125" b="1">
                <a:solidFill>
                  <a:srgbClr val="8400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What we would not do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15930" y="554473"/>
            <a:ext cx="4972908" cy="250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70"/>
              </a:lnSpc>
            </a:pPr>
            <a:r>
              <a:rPr lang="en-US" sz="172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EECE 490 · Stories Coffee Hackathon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035808"/>
            <a:ext cx="15544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22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Ideas that sound good but the data says no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31920"/>
            <a:ext cx="8275320" cy="2468880"/>
          </a:xfrm>
          <a:prstGeom prst="roundRect">
            <a:avLst>
              <a:gd name="adj" fmla="val 7000"/>
            </a:avLst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" y="4279392"/>
            <a:ext cx="566928" cy="566928"/>
          </a:xfrm>
          <a:prstGeom prst="ellipse">
            <a:avLst/>
          </a:prstGeom>
          <a:solidFill>
            <a:srgbClr val="5C5C5C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279392"/>
            <a:ext cx="685800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500" b="1" i="0">
                <a:solidFill>
                  <a:srgbClr val="1A1A1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End-of-day discounts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029200"/>
            <a:ext cx="7543800" cy="1234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Late evening is Stories’ busiest time, not its quietest. A discount there gives money to people already coming.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3931920"/>
            <a:ext cx="8275320" cy="2468880"/>
          </a:xfrm>
          <a:prstGeom prst="roundRect">
            <a:avLst>
              <a:gd name="adj" fmla="val 7000"/>
            </a:avLst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92640" y="4279392"/>
            <a:ext cx="566928" cy="566928"/>
          </a:xfrm>
          <a:prstGeom prst="ellipse">
            <a:avLst/>
          </a:prstGeom>
          <a:solidFill>
            <a:srgbClr val="5C5C5C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69880" y="4279392"/>
            <a:ext cx="685800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500" b="1" i="0">
                <a:solidFill>
                  <a:srgbClr val="1A1A1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Winter or holiday promotions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5029200"/>
            <a:ext cx="7543800" cy="1234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January is the slowest month, but sales grew because more people came, not because of seasons. Holidays showed no effect.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6629400"/>
            <a:ext cx="8275320" cy="2468880"/>
          </a:xfrm>
          <a:prstGeom prst="roundRect">
            <a:avLst>
              <a:gd name="adj" fmla="val 7000"/>
            </a:avLst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51560" y="6976872"/>
            <a:ext cx="566928" cy="566928"/>
          </a:xfrm>
          <a:prstGeom prst="ellipse">
            <a:avLst/>
          </a:prstGeom>
          <a:solidFill>
            <a:srgbClr val="5C5C5C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6976872"/>
            <a:ext cx="685800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500" b="1" i="0">
                <a:solidFill>
                  <a:srgbClr val="1A1A1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 “summer iced drinks” push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7726679"/>
            <a:ext cx="7543800" cy="1234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Cold drinks stay at about 60% of sales whether it’s 14 °C or 25 °C. Weather doesn’t move demand.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26880" y="6629400"/>
            <a:ext cx="8275320" cy="2468880"/>
          </a:xfrm>
          <a:prstGeom prst="roundRect">
            <a:avLst>
              <a:gd name="adj" fmla="val 7000"/>
            </a:avLst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692640" y="6976872"/>
            <a:ext cx="566928" cy="566928"/>
          </a:xfrm>
          <a:prstGeom prst="ellipse">
            <a:avLst/>
          </a:prstGeom>
          <a:solidFill>
            <a:srgbClr val="5C5C5C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69880" y="6976872"/>
            <a:ext cx="685800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2500" b="1" i="0">
                <a:solidFill>
                  <a:srgbClr val="1A1A1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Bundle discounts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7726679"/>
            <a:ext cx="7543800" cy="1234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Items bought together don’t prove a discount would sell more. It would mostly cut profit on sales we already make.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400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8666018" y="8791035"/>
            <a:ext cx="955964" cy="955964"/>
            <a:chOff x="0" y="0"/>
            <a:chExt cx="1274618" cy="12746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74572" cy="1274572"/>
            </a:xfrm>
            <a:custGeom>
              <a:avLst/>
              <a:gdLst/>
              <a:ahLst/>
              <a:cxnLst/>
              <a:rect l="l" t="t" r="r" b="b"/>
              <a:pathLst>
                <a:path w="1274572" h="1274572">
                  <a:moveTo>
                    <a:pt x="0" y="0"/>
                  </a:moveTo>
                  <a:lnTo>
                    <a:pt x="1274572" y="0"/>
                  </a:lnTo>
                  <a:lnTo>
                    <a:pt x="1274572" y="1274572"/>
                  </a:lnTo>
                  <a:lnTo>
                    <a:pt x="0" y="1274572"/>
                  </a:lnTo>
                  <a:lnTo>
                    <a:pt x="0" y="0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6742334" y="7297498"/>
            <a:ext cx="4803333" cy="1122274"/>
            <a:chOff x="0" y="0"/>
            <a:chExt cx="6404444" cy="1496365"/>
          </a:xfrm>
        </p:grpSpPr>
        <p:sp>
          <p:nvSpPr>
            <p:cNvPr id="5" name="Freeform 5" descr="Text  Description automatically generated with medium confidence"/>
            <p:cNvSpPr/>
            <p:nvPr/>
          </p:nvSpPr>
          <p:spPr>
            <a:xfrm>
              <a:off x="0" y="0"/>
              <a:ext cx="6404483" cy="1496314"/>
            </a:xfrm>
            <a:custGeom>
              <a:avLst/>
              <a:gdLst/>
              <a:ahLst/>
              <a:cxnLst/>
              <a:rect l="l" t="t" r="r" b="b"/>
              <a:pathLst>
                <a:path w="6404483" h="1496314">
                  <a:moveTo>
                    <a:pt x="0" y="0"/>
                  </a:moveTo>
                  <a:lnTo>
                    <a:pt x="6404483" y="0"/>
                  </a:lnTo>
                  <a:lnTo>
                    <a:pt x="6404483" y="1496314"/>
                  </a:lnTo>
                  <a:lnTo>
                    <a:pt x="0" y="14963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5" b="-2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140033" y="4671136"/>
            <a:ext cx="6007935" cy="426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5"/>
              </a:lnSpc>
            </a:pPr>
            <a:r>
              <a:rPr lang="en-US" sz="3375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65</Words>
  <Application>Microsoft Office PowerPoint</Application>
  <PresentationFormat>Custom</PresentationFormat>
  <Paragraphs>11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Helvetica World</vt:lpstr>
      <vt:lpstr>Helvetica World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MSFEA_AUB_PPT template.pptx</dc:title>
  <cp:lastModifiedBy>User</cp:lastModifiedBy>
  <cp:revision>3</cp:revision>
  <dcterms:created xsi:type="dcterms:W3CDTF">2006-08-16T00:00:00Z</dcterms:created>
  <dcterms:modified xsi:type="dcterms:W3CDTF">2026-05-04T22:07:13Z</dcterms:modified>
  <dc:identifier>DAG5hWe2SnY</dc:identifier>
</cp:coreProperties>
</file>