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61" r:id="rId7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63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Helvetica World" panose="020B0604020202020204" charset="-128"/>
      <p:regular r:id="rId13"/>
    </p:embeddedFont>
    <p:embeddedFont>
      <p:font typeface="Helvetica World Bold" panose="020B0604020202020204" charset="-12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10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one thing: the simulation we used to test our ideas, what it found, and what we recommend.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kinds of unknowns behind every idea. We know a sensible range for each, but not the exact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computer does this 20,000 times in about a second. The result is not one guess but a picture of all the believable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Wages: 2 staff × $2.60 an hour × 70% of the hour actually removed from the roster = $3.64. Power: 3 kWh, mostly from the generator at $0.50 = $1.36. Uptown earns $4.37 of profit in that hour; 60% of it is lost = $2.62. $2.38 a day over 182 days is about $430.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counts how many of the 20,000 rolls landed at that amount. Bad luck (1 roll in 20) loses −$807; good luck (1 in 20) gains $2,315.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money figures are gross profit over six months, typical (middle) result of 20,000 rolls.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simulation also tells us which unknown moves the answer most, so we know what to check before 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recommendation starts as a small test so real results, not our guesses, decide whether to roll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one of our ranges is wrong, the answer can be wrong. The simulation shows where that matters; the tests settle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 Full detail: reports/monte_carlo.md and the full deck, Stories_Outside_In_Deck.pptx.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7462" y="1510436"/>
            <a:ext cx="6769320" cy="1581616"/>
            <a:chOff x="0" y="0"/>
            <a:chExt cx="9025760" cy="2108822"/>
          </a:xfrm>
        </p:grpSpPr>
        <p:sp>
          <p:nvSpPr>
            <p:cNvPr id="3" name="Freeform 3" descr="Text  Description automatically generated with medium confidence"/>
            <p:cNvSpPr/>
            <p:nvPr/>
          </p:nvSpPr>
          <p:spPr>
            <a:xfrm>
              <a:off x="0" y="0"/>
              <a:ext cx="9025763" cy="2108835"/>
            </a:xfrm>
            <a:custGeom>
              <a:avLst/>
              <a:gdLst/>
              <a:ahLst/>
              <a:cxnLst/>
              <a:rect l="l" t="t" r="r" b="b"/>
              <a:pathLst>
                <a:path w="9025763" h="2108835">
                  <a:moveTo>
                    <a:pt x="0" y="0"/>
                  </a:moveTo>
                  <a:lnTo>
                    <a:pt x="9025763" y="0"/>
                  </a:lnTo>
                  <a:lnTo>
                    <a:pt x="9025763" y="2108835"/>
                  </a:lnTo>
                  <a:lnTo>
                    <a:pt x="0" y="210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50517" y="519466"/>
            <a:ext cx="2927240" cy="509234"/>
            <a:chOff x="0" y="0"/>
            <a:chExt cx="3250766" cy="565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0766" cy="565516"/>
            </a:xfrm>
            <a:custGeom>
              <a:avLst/>
              <a:gdLst/>
              <a:ahLst/>
              <a:cxnLst/>
              <a:rect l="l" t="t" r="r" b="b"/>
              <a:pathLst>
                <a:path w="3250766" h="565516">
                  <a:moveTo>
                    <a:pt x="0" y="0"/>
                  </a:moveTo>
                  <a:lnTo>
                    <a:pt x="3250766" y="0"/>
                  </a:lnTo>
                  <a:lnTo>
                    <a:pt x="3250766" y="565516"/>
                  </a:lnTo>
                  <a:lnTo>
                    <a:pt x="0" y="56551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250766" cy="565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5691" y="571119"/>
            <a:ext cx="3473609" cy="45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31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October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931920"/>
            <a:ext cx="1207008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Will these ideas make Stories money?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626364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tested each one 20,000 times with a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8549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50240" y="47548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661136" y="506577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575536" y="506577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118336" y="552297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61136" y="598017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575536" y="598017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453359" y="557784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764255" y="588873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21455" y="634593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678655" y="6803136"/>
            <a:ext cx="292608" cy="29260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don’t know the exact numbers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idea depends on things nobody can measure in advance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868680" cy="86868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4924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many staff work the early hour?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58368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only know: </a:t>
            </a:r>
            <a:r>
              <a:rPr sz="2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Somewhere between 1 and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319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4251960"/>
            <a:ext cx="868680" cy="86868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34924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If we open later, do those customers come back?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658368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only know: </a:t>
            </a:r>
            <a:r>
              <a:rPr sz="2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Probably 20–60% of them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9319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90120" y="4251960"/>
            <a:ext cx="868680" cy="86868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90120" y="534924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will electricity cost next month?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0120" y="658368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only know: </a:t>
            </a:r>
            <a:r>
              <a:rPr sz="2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Between $0.45 and $0.59 per kWh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8001000"/>
            <a:ext cx="16916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 we don’t guess once. We guess 20,000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the simulation works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Like rolling dice, over and 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206240"/>
            <a:ext cx="777240" cy="77724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20624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48075" y="4353915"/>
            <a:ext cx="124358" cy="1243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5606" y="4353915"/>
            <a:ext cx="124358" cy="1243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48075" y="4711446"/>
            <a:ext cx="124358" cy="1243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05606" y="4711446"/>
            <a:ext cx="124358" cy="1243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Roll the dice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60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Pick one value for each unknown from its range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07992" y="5349240"/>
            <a:ext cx="329184" cy="41148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10328" y="393192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30368" y="4206240"/>
            <a:ext cx="777240" cy="77724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 the math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5760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that version of the future, did the idea make or lose money?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32520" y="5349240"/>
            <a:ext cx="329184" cy="41148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34856" y="393192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54896" y="4206240"/>
            <a:ext cx="777240" cy="77724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Write it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5760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Keep the answer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2957048" y="5349240"/>
            <a:ext cx="329184" cy="41148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359384" y="393192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679424" y="4206240"/>
            <a:ext cx="777240" cy="77724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79424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Repeat 20,000 times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79424" y="5760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roll is a different, believable future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7498079"/>
            <a:ext cx="16916400" cy="178308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7726679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Then count. </a:t>
            </a:r>
            <a:r>
              <a:rPr sz="24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15,000 of the 20,000 rolls made money, we say “75% chance it pays”, just like a weather forecast says “75% chance of rain”.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One roll, step by step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Example: open Uptown at 8:00 instead of 7:00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6400800" cy="52578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dice say…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93776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16609" y="5102809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16201" y="5502402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5010912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 staff work that hour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626364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6609" y="6428689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16201" y="6428689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6609" y="6828282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16201" y="6828282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6336792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40% of those customers come back later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758952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9235" y="7737195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16405" y="7954365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33575" y="8171535"/>
            <a:ext cx="138988" cy="1389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7662672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Electricity costs $0.50 per kWh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9319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+$5.00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4023359"/>
            <a:ext cx="64465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saved each hour in wages and 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0292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−$2.60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5120640"/>
            <a:ext cx="64465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profit lost each hour from the 60% who don’t come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61264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= +$2.40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217920"/>
            <a:ext cx="64465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better off, every hour we stay closed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7360920"/>
            <a:ext cx="9921240" cy="182880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758952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About +$430 over six months. </a:t>
            </a:r>
            <a:r>
              <a:rPr sz="26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Write it down, then roll again with new dice.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20,000 rolls later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Opening Uptown and Garden later in the morning: every outcome at once</a:t>
            </a:r>
          </a:p>
        </p:txBody>
      </p:sp>
      <p:pic>
        <p:nvPicPr>
          <p:cNvPr id="14" name="Picture 13" descr="s_ro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10492053" cy="5440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984480" y="3977639"/>
            <a:ext cx="4617720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0" y="534924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the rolls made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0" y="6355080"/>
            <a:ext cx="4617720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+$656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0" y="7726679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typical result over six months, across the three early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the simulation found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Five ideas, tested the same 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40480"/>
            <a:ext cx="16916400" cy="987552"/>
          </a:xfrm>
          <a:prstGeom prst="roundRect">
            <a:avLst>
              <a:gd name="adj" fmla="val 12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Uptown and Garden later in the morning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40480"/>
            <a:ext cx="265176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840480"/>
            <a:ext cx="237744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chance it pays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3840480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Probably worth it, if two people really work that early 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16916400" cy="987552"/>
          </a:xfrm>
          <a:prstGeom prst="roundRect">
            <a:avLst>
              <a:gd name="adj" fmla="val 12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56048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Raise all prices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56048"/>
            <a:ext cx="265176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$7,300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956048"/>
            <a:ext cx="237744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typical, per six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0" y="4956048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Very likely to pay, unless customers are more price-sensitive than we think. Test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6071616"/>
            <a:ext cx="16916400" cy="987552"/>
          </a:xfrm>
          <a:prstGeom prst="roundRect">
            <a:avLst>
              <a:gd name="adj" fmla="val 12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071616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Raise prices but keep coffee the same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071616"/>
            <a:ext cx="265176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071616"/>
            <a:ext cx="237744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rolls it does worse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0" y="6071616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earlier idea. Raising everything does better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7187183"/>
            <a:ext cx="16916400" cy="987552"/>
          </a:xfrm>
          <a:prstGeom prst="roundRect">
            <a:avLst>
              <a:gd name="adj" fmla="val 12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7187183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Lock in a fixed matcha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7187183"/>
            <a:ext cx="265176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$1,200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7187183"/>
            <a:ext cx="237744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it’s worth, per six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0" y="7187183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Pay a supplier less than that to guarantee price and supply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8302752"/>
            <a:ext cx="16916400" cy="987552"/>
          </a:xfrm>
          <a:prstGeom prst="roundRect">
            <a:avLst>
              <a:gd name="adj" fmla="val 12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8302752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Harbour: round prices down to $X.95 or up to $X.25?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8302752"/>
            <a:ext cx="265176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61% vs 39%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8302752"/>
            <a:ext cx="237744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down vs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0" y="8302752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Basically a coin flip, so test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matters most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 opening later: people, not power</a:t>
            </a:r>
          </a:p>
        </p:txBody>
      </p:sp>
      <p:pic>
        <p:nvPicPr>
          <p:cNvPr id="14" name="Picture 13" descr="s_mat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04226"/>
            <a:ext cx="10607040" cy="388458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750040" y="3931920"/>
            <a:ext cx="5852160" cy="2514600"/>
          </a:xfrm>
          <a:prstGeom prst="roundRect">
            <a:avLst>
              <a:gd name="adj" fmla="val 7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15800" y="41605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Check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15800" y="46634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 the early shift really two people, and can that hour come off the roster?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50040" y="6675120"/>
            <a:ext cx="5852160" cy="201168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5800" y="69037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Don’t worry about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15800" y="740664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oil shock. The electricity price barely changes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we recommend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Small tests first, then roll out what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0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Typical value, 6 months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70248"/>
            <a:ext cx="658368" cy="6583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121615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 Uptown at 9:00 and Garden at 8:00 for four weeks, after checking the early-shift roster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0" y="41605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$656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5129783"/>
            <a:ext cx="1595628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685800" y="5303520"/>
            <a:ext cx="658368" cy="6583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93792"/>
            <a:ext cx="121615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Raise all prices 5% at one branch for four weeks; stop if sales fall more than 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0" y="5193792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$7,300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45920" y="6163056"/>
            <a:ext cx="1595628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685800" y="6336792"/>
            <a:ext cx="658368" cy="6583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6227064"/>
            <a:ext cx="121615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Include coffee in the rise. Don’t freeze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0" y="6227064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avoids losing $1,200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45920" y="7196327"/>
            <a:ext cx="1595628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85800" y="7370063"/>
            <a:ext cx="658368" cy="6583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7260336"/>
            <a:ext cx="121615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Lock a 6–12-month matcha price if the extra cost is under $1,200 per six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0" y="7260336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$1,200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45920" y="8229600"/>
            <a:ext cx="1595628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685800" y="8403336"/>
            <a:ext cx="658368" cy="6583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8293608"/>
            <a:ext cx="121615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 Harbour, try $X.95 and $X.25 prices in alternating weeks for 8 weeks; keep the winner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90320" y="8293608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$418–$585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it can and can’t 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Honest limits of the simulation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8275320" cy="35661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can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5084064"/>
            <a:ext cx="201168" cy="2011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9377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 how much our uncertainty matters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5833872"/>
            <a:ext cx="201168" cy="2011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68756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Tell us which unknown to check first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6583680"/>
            <a:ext cx="201168" cy="20116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643737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Rank ideas by how likely they are to pay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931920"/>
            <a:ext cx="827532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59" y="42062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can’t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0" y="5084064"/>
            <a:ext cx="201168" cy="20116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59" y="49377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Prove our ranges are right</a:t>
            </a:r>
          </a:p>
        </p:txBody>
      </p:sp>
      <p:sp>
        <p:nvSpPr>
          <p:cNvPr id="26" name="Oval 25"/>
          <p:cNvSpPr/>
          <p:nvPr/>
        </p:nvSpPr>
        <p:spPr>
          <a:xfrm>
            <a:off x="9784080" y="5833872"/>
            <a:ext cx="201168" cy="20116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568756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 exactly what will happen</a:t>
            </a:r>
          </a:p>
        </p:txBody>
      </p:sp>
      <p:sp>
        <p:nvSpPr>
          <p:cNvPr id="28" name="Oval 27"/>
          <p:cNvSpPr/>
          <p:nvPr/>
        </p:nvSpPr>
        <p:spPr>
          <a:xfrm>
            <a:off x="9784080" y="6583680"/>
            <a:ext cx="201168" cy="20116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59" y="643737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Replace a real test in a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8001000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That’s why every recommendation starts as a four-week test at one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666018" y="8791035"/>
            <a:ext cx="955964" cy="955964"/>
            <a:chOff x="0" y="0"/>
            <a:chExt cx="1274618" cy="1274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4572" cy="1274572"/>
            </a:xfrm>
            <a:custGeom>
              <a:avLst/>
              <a:gdLst/>
              <a:ahLst/>
              <a:cxnLst/>
              <a:rect l="l" t="t" r="r" b="b"/>
              <a:pathLst>
                <a:path w="1274572" h="1274572">
                  <a:moveTo>
                    <a:pt x="0" y="0"/>
                  </a:moveTo>
                  <a:lnTo>
                    <a:pt x="1274572" y="0"/>
                  </a:lnTo>
                  <a:lnTo>
                    <a:pt x="1274572" y="1274572"/>
                  </a:lnTo>
                  <a:lnTo>
                    <a:pt x="0" y="127457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742334" y="7297498"/>
            <a:ext cx="4803333" cy="1122274"/>
            <a:chOff x="0" y="0"/>
            <a:chExt cx="6404444" cy="1496365"/>
          </a:xfrm>
        </p:grpSpPr>
        <p:sp>
          <p:nvSpPr>
            <p:cNvPr id="5" name="Freeform 5" descr="Text  Description automatically generated with medium confidence"/>
            <p:cNvSpPr/>
            <p:nvPr/>
          </p:nvSpPr>
          <p:spPr>
            <a:xfrm>
              <a:off x="0" y="0"/>
              <a:ext cx="6404483" cy="1496314"/>
            </a:xfrm>
            <a:custGeom>
              <a:avLst/>
              <a:gdLst/>
              <a:ahLst/>
              <a:cxnLst/>
              <a:rect l="l" t="t" r="r" b="b"/>
              <a:pathLst>
                <a:path w="6404483" h="1496314">
                  <a:moveTo>
                    <a:pt x="0" y="0"/>
                  </a:moveTo>
                  <a:lnTo>
                    <a:pt x="6404483" y="0"/>
                  </a:lnTo>
                  <a:lnTo>
                    <a:pt x="6404483" y="1496314"/>
                  </a:lnTo>
                  <a:lnTo>
                    <a:pt x="0" y="1496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40033" y="4671136"/>
            <a:ext cx="6007935" cy="42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337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Custom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MSFEA_AUB_PPT template.pptx</dc:title>
  <cp:lastModifiedBy>User</cp:lastModifiedBy>
  <cp:revision>3</cp:revision>
  <dcterms:created xsi:type="dcterms:W3CDTF">2006-08-16T00:00:00Z</dcterms:created>
  <dcterms:modified xsi:type="dcterms:W3CDTF">2026-05-04T22:07:13Z</dcterms:modified>
  <dc:identifier>DAG5hWe2SnY</dc:identifier>
</cp:coreProperties>
</file>