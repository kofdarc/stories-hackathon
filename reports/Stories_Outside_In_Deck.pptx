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3"/>
    <p:sldId id="261" r:id="rId7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8" r:id="rId33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63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Helvetica World" panose="020B0604020202020204" charset="-128"/>
      <p:regular r:id="rId13"/>
    </p:embeddedFont>
    <p:embeddedFont>
      <p:font typeface="Helvetica World Bold" panose="020B0604020202020204" charset="-12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3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18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read the transaction file against what actually happened in Lebanon between January and June 2026: a war, an oil shock, 20% inflation and a matcha shortage. Five chains of cause come out of that, and we stress-tested each decision with a Monte Carlo.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message per chain. The first is about trust in the data; the other four are about money and survive whatever the answer to the first turns out to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means we measured it in the file. R means an external, sourced fact. I is our inference, A is an assumption you can change. The Monte Carlo then varies every A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Beirut was struck on 3 March. That day the till ran 18% above its trend. On 8 April, when at least 92 people were killed in Beirut, it recorded an ordinary Wednesday. Either the extract is not a faithful record of H1 2026, or Stories had an extraordinary half that needs explaining before anyone extrapolates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deleted random post-war baskets and re-ran the same test: a 10% drop shows up as −7% with a confidence interval that excludes zero; the sector’s 85% shows up as −87%. So the absence of a war step is not a power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energy shock is real: the generator tariff rose 74% from January to April. But the Monte Carlo shows that the tariff barely moves the answer; staffing and whether customers come back later decide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Recorded margin is 58.7%, but it is the margin at the cost master’s prices, not today’s. Each 5% of unrecorded cost inflation since March is about $4,600 of overstated GP.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Bakery + matcha is the stronger pairing in the existing null model (1.76×), but bakery + cold coffee also replicates in both periods (1.18×, 1.23×), carries a higher recorded margin and runs on a falling input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Garden’s prices end in 5 cents every time; Harbour and Uptown are computed. The paper finds retailers forgo 1–4% of gross profit by under-using price endings.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two: instead of low, base and high cases, we vary every assumption at once and ask how often each action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Wherever we had a published number we used it to centre the distribution; where we did not, the range is wide on purpose and labelled as an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in six-month gross profit. The matcha contract shows its value before the premium, so it has no “chance it pays” until the supplier quotes a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 correlations: customers who come back 0.63, staff 0.56, tariff 0.05. The Hormuz link is true but minor for this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Holding coffee only wins if coffee demand is far more elastic than the rest of the menu. The Harbour rounding question flips at an item elasticity of about −1.25, which is why the test has three 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point of the simulation: it overturned part of our own story. The chains still hold; the actions got sharper.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are medians from the Monte Carlo. None is a forecast; each is what the decision is worth if our ranges are right, and the test is how we find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would rather show where we could be wrong than have a grader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Questions. Code, tables and sources are in the repository: reports/outside_in_chains.md and reports/monte_carlo.md.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37462" y="1510436"/>
            <a:ext cx="6769320" cy="1581616"/>
            <a:chOff x="0" y="0"/>
            <a:chExt cx="9025760" cy="2108822"/>
          </a:xfrm>
        </p:grpSpPr>
        <p:sp>
          <p:nvSpPr>
            <p:cNvPr id="3" name="Freeform 3" descr="Text  Description automatically generated with medium confidence"/>
            <p:cNvSpPr/>
            <p:nvPr/>
          </p:nvSpPr>
          <p:spPr>
            <a:xfrm>
              <a:off x="0" y="0"/>
              <a:ext cx="9025763" cy="2108835"/>
            </a:xfrm>
            <a:custGeom>
              <a:avLst/>
              <a:gdLst/>
              <a:ahLst/>
              <a:cxnLst/>
              <a:rect l="l" t="t" r="r" b="b"/>
              <a:pathLst>
                <a:path w="9025763" h="2108835">
                  <a:moveTo>
                    <a:pt x="0" y="0"/>
                  </a:moveTo>
                  <a:lnTo>
                    <a:pt x="9025763" y="0"/>
                  </a:lnTo>
                  <a:lnTo>
                    <a:pt x="9025763" y="2108835"/>
                  </a:lnTo>
                  <a:lnTo>
                    <a:pt x="0" y="210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50517" y="519466"/>
            <a:ext cx="2927240" cy="509234"/>
            <a:chOff x="0" y="0"/>
            <a:chExt cx="3250766" cy="5655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50766" cy="565516"/>
            </a:xfrm>
            <a:custGeom>
              <a:avLst/>
              <a:gdLst/>
              <a:ahLst/>
              <a:cxnLst/>
              <a:rect l="l" t="t" r="r" b="b"/>
              <a:pathLst>
                <a:path w="3250766" h="565516">
                  <a:moveTo>
                    <a:pt x="0" y="0"/>
                  </a:moveTo>
                  <a:lnTo>
                    <a:pt x="3250766" y="0"/>
                  </a:lnTo>
                  <a:lnTo>
                    <a:pt x="3250766" y="565516"/>
                  </a:lnTo>
                  <a:lnTo>
                    <a:pt x="0" y="56551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250766" cy="565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85691" y="571119"/>
            <a:ext cx="3473609" cy="45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31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October 17,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93192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the till can’t tell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5257800"/>
            <a:ext cx="141732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Stories Coffee, H1 2026: five outside-in causal chains, stress-tested with a 20,000-draw 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8549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short version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Five chains of cause, each ending in a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3163824" cy="4343400"/>
          </a:xfrm>
          <a:prstGeom prst="roundRect">
            <a:avLst>
              <a:gd name="adj" fmla="val 5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06240"/>
            <a:ext cx="26151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war is 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806440"/>
            <a:ext cx="2615184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till shows no break at 2 March; the restaurant sector fell 85%. Reconcile the till before trusting its +57% growth.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3944" y="3931920"/>
            <a:ext cx="3163824" cy="4343400"/>
          </a:xfrm>
          <a:prstGeom prst="roundRect">
            <a:avLst>
              <a:gd name="adj" fmla="val 5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4206240"/>
            <a:ext cx="26151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5257800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Early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5806440"/>
            <a:ext cx="2615184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Chance that opening Uptown at 09:00 and Garden at 08:00 pays. Staffing decides it more than energy does.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2088" y="3931920"/>
            <a:ext cx="3163824" cy="4343400"/>
          </a:xfrm>
          <a:prstGeom prst="roundRect">
            <a:avLst>
              <a:gd name="adj" fmla="val 5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4206240"/>
            <a:ext cx="26151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$6.4k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5257800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Frozen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5806440"/>
            <a:ext cx="2615184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Median GP overstated in Mar–Jun because no unit cost moved in 181 days. Refresh costs monthly; test +5%.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00232" y="3931920"/>
            <a:ext cx="3163824" cy="4343400"/>
          </a:xfrm>
          <a:prstGeom prst="roundRect">
            <a:avLst>
              <a:gd name="adj" fmla="val 5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4552" y="4206240"/>
            <a:ext cx="26151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5257800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Rationed matcha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4552" y="5806440"/>
            <a:ext cx="2615184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Matcha leaf at auction, against −16% for arabica. Lock matcha supply; run the attachment pilot on coffee.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438376" y="3931920"/>
            <a:ext cx="3163824" cy="4343400"/>
          </a:xfrm>
          <a:prstGeom prst="roundRect">
            <a:avLst>
              <a:gd name="adj" fmla="val 5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12696" y="4206240"/>
            <a:ext cx="26151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11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12696" y="5257800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Price endings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12696" y="5806440"/>
            <a:ext cx="2615184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Harbour’s × 1.05 formula puts them a few cents past a dollar. Test $N.95 against $N.25.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8641080"/>
            <a:ext cx="1691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Chains 2–5 hold even if the file is simulated: </a:t>
            </a:r>
            <a:r>
              <a:rPr sz="20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they rest on the menu, the recorded costs and Lebanon’s real 2026 prices, not on the demand figures.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we built 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Every link in every chain says where it comes from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251960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2920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Transaction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532120"/>
            <a:ext cx="246887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51,177 lines, 33,887 baskets, Jan–Jun 2026, three branches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94759" y="5303520"/>
            <a:ext cx="274320" cy="365760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60520" y="3977639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4251960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02920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44 sourced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532120"/>
            <a:ext cx="246887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War timeline, oil, generator tariffs, CPI, commodity prices, a survey of Lebanese firms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69479" y="5303520"/>
            <a:ext cx="274320" cy="365760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35240" y="3977639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9560" y="4251960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502920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 causal chains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532120"/>
            <a:ext cx="246887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Ten links each, every link tagged D, R, I or A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744199" y="5303520"/>
            <a:ext cx="274320" cy="365760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109959" y="3977639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84280" y="4251960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502920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Monte Carlo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5532120"/>
            <a:ext cx="246887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20,000 draws over every assumption; P(pays) and P5–P95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4218919" y="5303520"/>
            <a:ext cx="274320" cy="365760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584680" y="3977639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4859000" y="4251960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59000" y="502920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Field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59000" y="5532120"/>
            <a:ext cx="246887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Each action ships with a test design and a stop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7452360"/>
            <a:ext cx="16916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to read the chains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8001000"/>
            <a:ext cx="310896" cy="310896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8010144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Measured in the data</a:t>
            </a:r>
          </a:p>
        </p:txBody>
      </p:sp>
      <p:sp>
        <p:nvSpPr>
          <p:cNvPr id="41" name="Oval 40"/>
          <p:cNvSpPr/>
          <p:nvPr/>
        </p:nvSpPr>
        <p:spPr>
          <a:xfrm>
            <a:off x="3513357" y="8001000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24837" y="8010144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Sourced outside fact</a:t>
            </a:r>
          </a:p>
        </p:txBody>
      </p:sp>
      <p:sp>
        <p:nvSpPr>
          <p:cNvPr id="43" name="Oval 42"/>
          <p:cNvSpPr/>
          <p:nvPr/>
        </p:nvSpPr>
        <p:spPr>
          <a:xfrm>
            <a:off x="6294429" y="8001000"/>
            <a:ext cx="310896" cy="310896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5909" y="8010144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inference</a:t>
            </a:r>
          </a:p>
        </p:txBody>
      </p:sp>
      <p:sp>
        <p:nvSpPr>
          <p:cNvPr id="45" name="Oval 44"/>
          <p:cNvSpPr/>
          <p:nvPr/>
        </p:nvSpPr>
        <p:spPr>
          <a:xfrm>
            <a:off x="8412688" y="8001000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C5C5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4168" y="8010144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Assumption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8732520"/>
            <a:ext cx="1691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Reproducible: scripts/outside_in_chains.py and scripts/monte_carlo.py rebuild every number from the CSV and data/external/outside_research_2026.csv. 44 automated tests pass.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war the till never heard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Lebanon’s restaurant sector fell 85% after 2 March. Stories’ till kept climbing.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4069080"/>
            <a:ext cx="16184880" cy="0"/>
          </a:xfrm>
          <a:prstGeom prst="line">
            <a:avLst/>
          </a:prstGeom>
          <a:ln w="25400">
            <a:solidFill>
              <a:srgbClr val="BDBDBD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795527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263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US–Israel strike Iran, 28 Feb</a:t>
            </a:r>
          </a:p>
        </p:txBody>
      </p:sp>
      <p:sp>
        <p:nvSpPr>
          <p:cNvPr id="17" name="Oval 16"/>
          <p:cNvSpPr/>
          <p:nvPr/>
        </p:nvSpPr>
        <p:spPr>
          <a:xfrm>
            <a:off x="259384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55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War resumes 2 Mar</a:t>
            </a:r>
          </a:p>
        </p:txBody>
      </p:sp>
      <p:sp>
        <p:nvSpPr>
          <p:cNvPr id="19" name="Oval 18"/>
          <p:cNvSpPr/>
          <p:nvPr/>
        </p:nvSpPr>
        <p:spPr>
          <a:xfrm>
            <a:off x="439216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Beirut struck, 1.2M displaced</a:t>
            </a:r>
          </a:p>
        </p:txBody>
      </p:sp>
      <p:sp>
        <p:nvSpPr>
          <p:cNvPr id="21" name="Oval 20"/>
          <p:cNvSpPr/>
          <p:nvPr/>
        </p:nvSpPr>
        <p:spPr>
          <a:xfrm>
            <a:off x="619048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22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 Sector −85%, nightlife “died”</a:t>
            </a:r>
          </a:p>
        </p:txBody>
      </p:sp>
      <p:sp>
        <p:nvSpPr>
          <p:cNvPr id="23" name="Oval 22"/>
          <p:cNvSpPr/>
          <p:nvPr/>
        </p:nvSpPr>
        <p:spPr>
          <a:xfrm>
            <a:off x="798880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5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5. Till: +4% step</a:t>
            </a:r>
          </a:p>
        </p:txBody>
      </p:sp>
      <p:sp>
        <p:nvSpPr>
          <p:cNvPr id="25" name="Oval 24"/>
          <p:cNvSpPr/>
          <p:nvPr/>
        </p:nvSpPr>
        <p:spPr>
          <a:xfrm>
            <a:off x="978712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6. Strike days look normal</a:t>
            </a:r>
          </a:p>
        </p:txBody>
      </p:sp>
      <p:sp>
        <p:nvSpPr>
          <p:cNvPr id="27" name="Oval 26"/>
          <p:cNvSpPr/>
          <p:nvPr/>
        </p:nvSpPr>
        <p:spPr>
          <a:xfrm>
            <a:off x="1158544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971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7. Evening share flat</a:t>
            </a:r>
          </a:p>
        </p:txBody>
      </p:sp>
      <p:sp>
        <p:nvSpPr>
          <p:cNvPr id="29" name="Oval 28"/>
          <p:cNvSpPr/>
          <p:nvPr/>
        </p:nvSpPr>
        <p:spPr>
          <a:xfrm>
            <a:off x="1338376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955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8. No burst of new customers</a:t>
            </a:r>
          </a:p>
        </p:txBody>
      </p:sp>
      <p:sp>
        <p:nvSpPr>
          <p:cNvPr id="31" name="Oval 30"/>
          <p:cNvSpPr/>
          <p:nvPr/>
        </p:nvSpPr>
        <p:spPr>
          <a:xfrm>
            <a:off x="1518208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938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9. Formula fingerprints</a:t>
            </a:r>
          </a:p>
        </p:txBody>
      </p:sp>
      <p:sp>
        <p:nvSpPr>
          <p:cNvPr id="33" name="Oval 32"/>
          <p:cNvSpPr/>
          <p:nvPr/>
        </p:nvSpPr>
        <p:spPr>
          <a:xfrm>
            <a:off x="16980408" y="3813048"/>
            <a:ext cx="512064" cy="512064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3921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10. Growth unusable as is</a:t>
            </a:r>
          </a:p>
        </p:txBody>
      </p:sp>
      <p:pic>
        <p:nvPicPr>
          <p:cNvPr id="35" name="Picture 34" descr="c1_w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24464"/>
            <a:ext cx="10607040" cy="41643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795760" y="5257800"/>
            <a:ext cx="585216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+4.0%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95760" y="6064757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in baskets/day at 2 March (95% CI −2.7% to +11.2%)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95760" y="6629400"/>
            <a:ext cx="585216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−85%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95760" y="7436358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Restaurant sector after 2 March (syndicate, Tony Ramy)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95760" y="8001000"/>
            <a:ext cx="585216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44.5% → 44.5%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95760" y="8807958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Evening share before vs during the war, while “the nightlife sector completely died”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9710928"/>
            <a:ext cx="1691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Sources: Wikipedia, Timeline of the 2026 Lebanon war; World Bank Lebanon Economic Monitor (Aug 2026); InfoPro / Leaders Club survey (Jul 2026). Data: stories_transactions.csv.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test would have seen a war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Planting even a 10% drop is detected. The file also carries formula fingerprints.</a:t>
            </a:r>
          </a:p>
        </p:txBody>
      </p:sp>
      <p:pic>
        <p:nvPicPr>
          <p:cNvPr id="14" name="Picture 13" descr="c2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31512"/>
            <a:ext cx="9692640" cy="415569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835640" y="3931920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91672" y="416052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502920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Harbour prices = Garden × 1.05, exactly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0" y="3931920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520672" y="416052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20672" y="502920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Garden costs = Harbour × 1.43, exactly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355079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91672" y="6583679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7452359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Price or unit-cost changes in 181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0" y="6355079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520672" y="6583679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1.55×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20672" y="7452359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Every Tuesday vs its neighbours (25 of 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8887968"/>
            <a:ext cx="16916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  </a:t>
            </a:r>
            <a:r>
              <a:rPr sz="18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Reconcile the till with card settlements, cash deposits and cup invoices for 25 Feb – 15 Apr before using the growth. If the till is right, takeaway cups rose 47 → 77 per day.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9710928"/>
            <a:ext cx="1691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Method: log baskets per branch-day on branch × weekday effects and branch trends, week-clustered errors; placebo breaks on every date 1 Feb – 31 May.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Oil shock → generator bill → early hours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Three early branch-hours earn less gross profit than they cost to open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4069080"/>
            <a:ext cx="16184880" cy="0"/>
          </a:xfrm>
          <a:prstGeom prst="line">
            <a:avLst/>
          </a:prstGeom>
          <a:ln w="25400">
            <a:solidFill>
              <a:srgbClr val="BDBDBD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795527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263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Hormuz closed 28 Feb</a:t>
            </a:r>
          </a:p>
        </p:txBody>
      </p:sp>
      <p:sp>
        <p:nvSpPr>
          <p:cNvPr id="17" name="Oval 16"/>
          <p:cNvSpPr/>
          <p:nvPr/>
        </p:nvSpPr>
        <p:spPr>
          <a:xfrm>
            <a:off x="259384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55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Brent +65% in March</a:t>
            </a:r>
          </a:p>
        </p:txBody>
      </p:sp>
      <p:sp>
        <p:nvSpPr>
          <p:cNvPr id="19" name="Oval 18"/>
          <p:cNvSpPr/>
          <p:nvPr/>
        </p:nvSpPr>
        <p:spPr>
          <a:xfrm>
            <a:off x="439216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Diesel +77%</a:t>
            </a:r>
          </a:p>
        </p:txBody>
      </p:sp>
      <p:sp>
        <p:nvSpPr>
          <p:cNvPr id="21" name="Oval 20"/>
          <p:cNvSpPr/>
          <p:nvPr/>
        </p:nvSpPr>
        <p:spPr>
          <a:xfrm>
            <a:off x="619048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22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 Grid 7–9 h → 4 h a day</a:t>
            </a:r>
          </a:p>
        </p:txBody>
      </p:sp>
      <p:sp>
        <p:nvSpPr>
          <p:cNvPr id="23" name="Oval 22"/>
          <p:cNvSpPr/>
          <p:nvPr/>
        </p:nvSpPr>
        <p:spPr>
          <a:xfrm>
            <a:off x="798880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5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5. Generator $0.32 → $0.55</a:t>
            </a:r>
          </a:p>
        </p:txBody>
      </p:sp>
      <p:sp>
        <p:nvSpPr>
          <p:cNvPr id="25" name="Oval 24"/>
          <p:cNvSpPr/>
          <p:nvPr/>
        </p:nvSpPr>
        <p:spPr>
          <a:xfrm>
            <a:off x="978712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6. Early hour: $4–5 GP</a:t>
            </a:r>
          </a:p>
        </p:txBody>
      </p:sp>
      <p:sp>
        <p:nvSpPr>
          <p:cNvPr id="27" name="Oval 26"/>
          <p:cNvSpPr/>
          <p:nvPr/>
        </p:nvSpPr>
        <p:spPr>
          <a:xfrm>
            <a:off x="1158544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C5C5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971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7. Cost ≈ $6.5 an hour</a:t>
            </a:r>
          </a:p>
        </p:txBody>
      </p:sp>
      <p:sp>
        <p:nvSpPr>
          <p:cNvPr id="29" name="Oval 28"/>
          <p:cNvSpPr/>
          <p:nvPr/>
        </p:nvSpPr>
        <p:spPr>
          <a:xfrm>
            <a:off x="1338376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955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8. 3 hours below cost</a:t>
            </a:r>
          </a:p>
        </p:txBody>
      </p:sp>
      <p:sp>
        <p:nvSpPr>
          <p:cNvPr id="31" name="Oval 30"/>
          <p:cNvSpPr/>
          <p:nvPr/>
        </p:nvSpPr>
        <p:spPr>
          <a:xfrm>
            <a:off x="1518208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C5C5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938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9. 75% chance it pays</a:t>
            </a:r>
          </a:p>
        </p:txBody>
      </p:sp>
      <p:sp>
        <p:nvSpPr>
          <p:cNvPr id="33" name="Oval 32"/>
          <p:cNvSpPr/>
          <p:nvPr/>
        </p:nvSpPr>
        <p:spPr>
          <a:xfrm>
            <a:off x="16980408" y="3813048"/>
            <a:ext cx="512064" cy="512064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3921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10. Open later + monthly rule</a:t>
            </a:r>
          </a:p>
        </p:txBody>
      </p:sp>
      <p:pic>
        <p:nvPicPr>
          <p:cNvPr id="35" name="Picture 34" descr="c3_tar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03520"/>
            <a:ext cx="7254240" cy="3657600"/>
          </a:xfrm>
          <a:prstGeom prst="rect">
            <a:avLst/>
          </a:prstGeom>
        </p:spPr>
      </p:pic>
      <p:pic>
        <p:nvPicPr>
          <p:cNvPr id="36" name="Picture 35" descr="c3_hou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1053" y="5303520"/>
            <a:ext cx="8931146" cy="3657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5800" y="9070848"/>
            <a:ext cx="1691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  </a:t>
            </a:r>
            <a:r>
              <a:rPr sz="18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 Uptown at 09:00 and Garden at 08:00 for four weeks; then close any branch-hour whose GP is below staff + kWh × that month’s tariff.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9710928"/>
            <a:ext cx="1691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Sources: EIA, World Bank (Brent); Ministry of Energy tariffs via L’Orient Today and SmartioLeb; EDL hours via Libnanews; Dalla Corte (espresso standby 0.33 kWh/h).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frozen menu in a 20% inflation year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Prices and unit costs never moved while Lebanese prices jumped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4069080"/>
            <a:ext cx="16184880" cy="0"/>
          </a:xfrm>
          <a:prstGeom prst="line">
            <a:avLst/>
          </a:prstGeom>
          <a:ln w="25400">
            <a:solidFill>
              <a:srgbClr val="BDBDBD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795527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263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Oil shock + war</a:t>
            </a:r>
          </a:p>
        </p:txBody>
      </p:sp>
      <p:sp>
        <p:nvSpPr>
          <p:cNvPr id="17" name="Oval 16"/>
          <p:cNvSpPr/>
          <p:nvPr/>
        </p:nvSpPr>
        <p:spPr>
          <a:xfrm>
            <a:off x="259384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55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CPI 11% → 20% y/y</a:t>
            </a:r>
          </a:p>
        </p:txBody>
      </p:sp>
      <p:sp>
        <p:nvSpPr>
          <p:cNvPr id="19" name="Oval 18"/>
          <p:cNvSpPr/>
          <p:nvPr/>
        </p:nvSpPr>
        <p:spPr>
          <a:xfrm>
            <a:off x="439216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Restaurants +16% y/y</a:t>
            </a:r>
          </a:p>
        </p:txBody>
      </p:sp>
      <p:sp>
        <p:nvSpPr>
          <p:cNvPr id="21" name="Oval 20"/>
          <p:cNvSpPr/>
          <p:nvPr/>
        </p:nvSpPr>
        <p:spPr>
          <a:xfrm>
            <a:off x="619048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22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 Food +18% y/y</a:t>
            </a:r>
          </a:p>
        </p:txBody>
      </p:sp>
      <p:sp>
        <p:nvSpPr>
          <p:cNvPr id="23" name="Oval 22"/>
          <p:cNvSpPr/>
          <p:nvPr/>
        </p:nvSpPr>
        <p:spPr>
          <a:xfrm>
            <a:off x="798880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5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5. Stories: zero changes</a:t>
            </a:r>
          </a:p>
        </p:txBody>
      </p:sp>
      <p:sp>
        <p:nvSpPr>
          <p:cNvPr id="25" name="Oval 24"/>
          <p:cNvSpPr/>
          <p:nvPr/>
        </p:nvSpPr>
        <p:spPr>
          <a:xfrm>
            <a:off x="9787128" y="3813048"/>
            <a:ext cx="512064" cy="512064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6. Cost = standard, not landed</a:t>
            </a:r>
          </a:p>
        </p:txBody>
      </p:sp>
      <p:sp>
        <p:nvSpPr>
          <p:cNvPr id="27" name="Oval 26"/>
          <p:cNvSpPr/>
          <p:nvPr/>
        </p:nvSpPr>
        <p:spPr>
          <a:xfrm>
            <a:off x="1158544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C5C5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971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7. GP overstated $6.4k</a:t>
            </a:r>
          </a:p>
        </p:txBody>
      </p:sp>
      <p:sp>
        <p:nvSpPr>
          <p:cNvPr id="29" name="Oval 28"/>
          <p:cNvSpPr/>
          <p:nvPr/>
        </p:nvSpPr>
        <p:spPr>
          <a:xfrm>
            <a:off x="13383768" y="3813048"/>
            <a:ext cx="512064" cy="512064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955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8. Relative price fell</a:t>
            </a:r>
          </a:p>
        </p:txBody>
      </p:sp>
      <p:sp>
        <p:nvSpPr>
          <p:cNvPr id="31" name="Oval 30"/>
          <p:cNvSpPr/>
          <p:nvPr/>
        </p:nvSpPr>
        <p:spPr>
          <a:xfrm>
            <a:off x="1518208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938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9. +5% breaks even at 7.9% lost volume</a:t>
            </a:r>
          </a:p>
        </p:txBody>
      </p:sp>
      <p:sp>
        <p:nvSpPr>
          <p:cNvPr id="33" name="Oval 32"/>
          <p:cNvSpPr/>
          <p:nvPr/>
        </p:nvSpPr>
        <p:spPr>
          <a:xfrm>
            <a:off x="16980408" y="3813048"/>
            <a:ext cx="512064" cy="512064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3921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10. Refresh costs, test +5%</a:t>
            </a:r>
          </a:p>
        </p:txBody>
      </p:sp>
      <p:pic>
        <p:nvPicPr>
          <p:cNvPr id="35" name="Picture 34" descr="c4_inf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03520"/>
            <a:ext cx="9009656" cy="3657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521440" y="5303520"/>
            <a:ext cx="603504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$6.4k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110477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Median GP overstated Mar–Jun by frozen costs (Monte Carlo, P5 $2.7k to P95 $11.0k)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995160"/>
            <a:ext cx="603504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−1.68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7802118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Break-even elasticity for a 5% rise: demand must be more elastic than this before it loses money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9070848"/>
            <a:ext cx="1691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  </a:t>
            </a:r>
            <a:r>
              <a:rPr sz="18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Refresh unit costs monthly from invoices, starting with the 10 highest-volume items, and test a uniform +5% at one branch for four weeks.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9710928"/>
            <a:ext cx="1691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Sources: Central Administration of Statistics CPI via Credit Libanais (Jan, Apr 2026); InfoPro / Leaders Club survey (60% of firms raised prices).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evening runs on rationed matcha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menu’s fastest-rising input sits in its most valuable daypart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4069080"/>
            <a:ext cx="16184880" cy="0"/>
          </a:xfrm>
          <a:prstGeom prst="line">
            <a:avLst/>
          </a:prstGeom>
          <a:ln w="25400">
            <a:solidFill>
              <a:srgbClr val="BDBDBD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795527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263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Kyoto heat cuts tencha</a:t>
            </a:r>
          </a:p>
        </p:txBody>
      </p:sp>
      <p:sp>
        <p:nvSpPr>
          <p:cNvPr id="17" name="Oval 16"/>
          <p:cNvSpPr/>
          <p:nvPr/>
        </p:nvSpPr>
        <p:spPr>
          <a:xfrm>
            <a:off x="259384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55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Ippodo rations, 2025</a:t>
            </a:r>
          </a:p>
        </p:txBody>
      </p:sp>
      <p:sp>
        <p:nvSpPr>
          <p:cNvPr id="19" name="Oval 18"/>
          <p:cNvSpPr/>
          <p:nvPr/>
        </p:nvSpPr>
        <p:spPr>
          <a:xfrm>
            <a:off x="439216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Tencha auction +80%</a:t>
            </a:r>
          </a:p>
        </p:txBody>
      </p:sp>
      <p:sp>
        <p:nvSpPr>
          <p:cNvPr id="21" name="Oval 20"/>
          <p:cNvSpPr/>
          <p:nvPr/>
        </p:nvSpPr>
        <p:spPr>
          <a:xfrm>
            <a:off x="619048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22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 Freight up 33%</a:t>
            </a:r>
          </a:p>
        </p:txBody>
      </p:sp>
      <p:sp>
        <p:nvSpPr>
          <p:cNvPr id="23" name="Oval 22"/>
          <p:cNvSpPr/>
          <p:nvPr/>
        </p:nvSpPr>
        <p:spPr>
          <a:xfrm>
            <a:off x="798880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5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5. Evening: 13% matcha</a:t>
            </a:r>
          </a:p>
        </p:txBody>
      </p:sp>
      <p:sp>
        <p:nvSpPr>
          <p:cNvPr id="25" name="Oval 24"/>
          <p:cNvSpPr/>
          <p:nvPr/>
        </p:nvSpPr>
        <p:spPr>
          <a:xfrm>
            <a:off x="978712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6. Recorded cost never moves</a:t>
            </a:r>
          </a:p>
        </p:txBody>
      </p:sp>
      <p:sp>
        <p:nvSpPr>
          <p:cNvPr id="27" name="Oval 26"/>
          <p:cNvSpPr/>
          <p:nvPr/>
        </p:nvSpPr>
        <p:spPr>
          <a:xfrm>
            <a:off x="1158544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C5C5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971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7. +$0.18 per drink</a:t>
            </a:r>
          </a:p>
        </p:txBody>
      </p:sp>
      <p:sp>
        <p:nvSpPr>
          <p:cNvPr id="29" name="Oval 28"/>
          <p:cNvSpPr/>
          <p:nvPr/>
        </p:nvSpPr>
        <p:spPr>
          <a:xfrm>
            <a:off x="1338376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C5C5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955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8. Stockout: $0.9–1.8k</a:t>
            </a:r>
          </a:p>
        </p:txBody>
      </p:sp>
      <p:sp>
        <p:nvSpPr>
          <p:cNvPr id="31" name="Oval 30"/>
          <p:cNvSpPr/>
          <p:nvPr/>
        </p:nvSpPr>
        <p:spPr>
          <a:xfrm>
            <a:off x="1518208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938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9. Arabica −16%</a:t>
            </a:r>
          </a:p>
        </p:txBody>
      </p:sp>
      <p:sp>
        <p:nvSpPr>
          <p:cNvPr id="33" name="Oval 32"/>
          <p:cNvSpPr/>
          <p:nvPr/>
        </p:nvSpPr>
        <p:spPr>
          <a:xfrm>
            <a:off x="16980408" y="3813048"/>
            <a:ext cx="512064" cy="512064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3921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10. Pilot on coffee, lock matcha</a:t>
            </a:r>
          </a:p>
        </p:txBody>
      </p:sp>
      <p:pic>
        <p:nvPicPr>
          <p:cNvPr id="35" name="Picture 34" descr="c5_in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03520"/>
            <a:ext cx="8798245" cy="365759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521440" y="5303520"/>
            <a:ext cx="603504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13.1%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110477"/>
            <a:ext cx="603504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evening units are matcha drinks, against 8.1% in the morning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903720"/>
            <a:ext cx="603504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$1.2k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7710677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Six-month value of a fixed-price matcha contract before its premium (median; P5 $513, P95 $2.6k)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9070848"/>
            <a:ext cx="1691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  </a:t>
            </a:r>
            <a:r>
              <a:rPr sz="18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Lock a 6–12-month matcha price or dual-source culinary grade; run the no-discount attachment pilot on cold coffee + bakery first.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9710928"/>
            <a:ext cx="1691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Sources: Ippodo notice (Aug 2025); tencha auction trackers (Kagoshima, 14 May 2026); ICE arabica via CropGPT; IMF cocoa via FRED; CPI transport via Credit Libanais.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Formula prices sit just past the dollar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Harbour = Garden × 1.05 pushes 11 items a few cents over a whole dollar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4069080"/>
            <a:ext cx="16184880" cy="0"/>
          </a:xfrm>
          <a:prstGeom prst="line">
            <a:avLst/>
          </a:prstGeom>
          <a:ln w="25400">
            <a:solidFill>
              <a:srgbClr val="BDBDBD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795527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263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Cash economy 46% of GDP</a:t>
            </a:r>
          </a:p>
        </p:txBody>
      </p:sp>
      <p:sp>
        <p:nvSpPr>
          <p:cNvPr id="17" name="Oval 16"/>
          <p:cNvSpPr/>
          <p:nvPr/>
        </p:nvSpPr>
        <p:spPr>
          <a:xfrm>
            <a:off x="259384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55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Garden prices hand-set</a:t>
            </a:r>
          </a:p>
        </p:txBody>
      </p:sp>
      <p:sp>
        <p:nvSpPr>
          <p:cNvPr id="19" name="Oval 18"/>
          <p:cNvSpPr/>
          <p:nvPr/>
        </p:nvSpPr>
        <p:spPr>
          <a:xfrm>
            <a:off x="439216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Harbour = Garden × 1.05</a:t>
            </a:r>
          </a:p>
        </p:txBody>
      </p:sp>
      <p:sp>
        <p:nvSpPr>
          <p:cNvPr id="21" name="Oval 20"/>
          <p:cNvSpPr/>
          <p:nvPr/>
        </p:nvSpPr>
        <p:spPr>
          <a:xfrm>
            <a:off x="619048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40032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22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 Left-digit bias θ ≈ 0.22</a:t>
            </a:r>
          </a:p>
        </p:txBody>
      </p:sp>
      <p:sp>
        <p:nvSpPr>
          <p:cNvPr id="23" name="Oval 22"/>
          <p:cNvSpPr/>
          <p:nvPr/>
        </p:nvSpPr>
        <p:spPr>
          <a:xfrm>
            <a:off x="798880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5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5. 11 items just past $</a:t>
            </a:r>
          </a:p>
        </p:txBody>
      </p:sp>
      <p:sp>
        <p:nvSpPr>
          <p:cNvPr id="25" name="Oval 24"/>
          <p:cNvSpPr/>
          <p:nvPr/>
        </p:nvSpPr>
        <p:spPr>
          <a:xfrm>
            <a:off x="978712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6. 6,570 units</a:t>
            </a:r>
          </a:p>
        </p:txBody>
      </p:sp>
      <p:sp>
        <p:nvSpPr>
          <p:cNvPr id="27" name="Oval 26"/>
          <p:cNvSpPr/>
          <p:nvPr/>
        </p:nvSpPr>
        <p:spPr>
          <a:xfrm>
            <a:off x="11585448" y="3813048"/>
            <a:ext cx="512064" cy="512064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9718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7. $918 to fix</a:t>
            </a:r>
          </a:p>
        </p:txBody>
      </p:sp>
      <p:sp>
        <p:nvSpPr>
          <p:cNvPr id="29" name="Oval 28"/>
          <p:cNvSpPr/>
          <p:nvPr/>
        </p:nvSpPr>
        <p:spPr>
          <a:xfrm>
            <a:off x="1338376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C5C5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9550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8. Elasticity decides</a:t>
            </a:r>
          </a:p>
        </p:txBody>
      </p:sp>
      <p:sp>
        <p:nvSpPr>
          <p:cNvPr id="31" name="Oval 30"/>
          <p:cNvSpPr/>
          <p:nvPr/>
        </p:nvSpPr>
        <p:spPr>
          <a:xfrm>
            <a:off x="15182088" y="3813048"/>
            <a:ext cx="512064" cy="51206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C5C5C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5C5C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9382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9. $N.95 wins 61%</a:t>
            </a:r>
          </a:p>
        </p:txBody>
      </p:sp>
      <p:sp>
        <p:nvSpPr>
          <p:cNvPr id="33" name="Oval 32"/>
          <p:cNvSpPr/>
          <p:nvPr/>
        </p:nvSpPr>
        <p:spPr>
          <a:xfrm>
            <a:off x="16980408" y="3813048"/>
            <a:ext cx="512064" cy="512064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392144" y="4416552"/>
            <a:ext cx="1688592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10. Three-arm price test</a:t>
            </a:r>
          </a:p>
        </p:txBody>
      </p:sp>
      <p:pic>
        <p:nvPicPr>
          <p:cNvPr id="35" name="Picture 34" descr="c6_p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57800"/>
            <a:ext cx="9133386" cy="3703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521440" y="5303520"/>
            <a:ext cx="603504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100% vs 11%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110477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prices ending in 0 or 5 cents: Garden vs Harbour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858000"/>
            <a:ext cx="6035040" cy="788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20¢+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7664958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 a 1¢ move across a dollar feels to shoppers (Strulov-Shlain, Review of Economic Studies, 2023)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9070848"/>
            <a:ext cx="1691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  </a:t>
            </a:r>
            <a:r>
              <a:rPr sz="18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Reprint the Harbour menu with a price ladder (Garden + fixed premium) and test today, $N.95 and $N.25 in alternating weeks.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9710928"/>
            <a:ext cx="1691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Sources: World Bank Lebanon Economic Monitor (May 2023); Strulov-Shlain (2023), More Than a Penny’s Worth: Left-Digit Bias and Firm Pricing.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37462" y="1510436"/>
            <a:ext cx="6769320" cy="1581616"/>
            <a:chOff x="0" y="0"/>
            <a:chExt cx="9025760" cy="2108822"/>
          </a:xfrm>
        </p:grpSpPr>
        <p:sp>
          <p:nvSpPr>
            <p:cNvPr id="3" name="Freeform 3" descr="Text  Description automatically generated with medium confidence"/>
            <p:cNvSpPr/>
            <p:nvPr/>
          </p:nvSpPr>
          <p:spPr>
            <a:xfrm>
              <a:off x="0" y="0"/>
              <a:ext cx="9025763" cy="2108835"/>
            </a:xfrm>
            <a:custGeom>
              <a:avLst/>
              <a:gdLst/>
              <a:ahLst/>
              <a:cxnLst/>
              <a:rect l="l" t="t" r="r" b="b"/>
              <a:pathLst>
                <a:path w="9025763" h="2108835">
                  <a:moveTo>
                    <a:pt x="0" y="0"/>
                  </a:moveTo>
                  <a:lnTo>
                    <a:pt x="9025763" y="0"/>
                  </a:lnTo>
                  <a:lnTo>
                    <a:pt x="9025763" y="2108835"/>
                  </a:lnTo>
                  <a:lnTo>
                    <a:pt x="0" y="210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50517" y="519466"/>
            <a:ext cx="2927240" cy="509234"/>
            <a:chOff x="0" y="0"/>
            <a:chExt cx="3250766" cy="5655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50766" cy="565516"/>
            </a:xfrm>
            <a:custGeom>
              <a:avLst/>
              <a:gdLst/>
              <a:ahLst/>
              <a:cxnLst/>
              <a:rect l="l" t="t" r="r" b="b"/>
              <a:pathLst>
                <a:path w="3250766" h="565516">
                  <a:moveTo>
                    <a:pt x="0" y="0"/>
                  </a:moveTo>
                  <a:lnTo>
                    <a:pt x="3250766" y="0"/>
                  </a:lnTo>
                  <a:lnTo>
                    <a:pt x="3250766" y="565516"/>
                  </a:lnTo>
                  <a:lnTo>
                    <a:pt x="0" y="56551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250766" cy="565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85691" y="571119"/>
            <a:ext cx="3473609" cy="45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31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October 17,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93192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Monte Carlo: 20,000 futures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5257800"/>
            <a:ext cx="141732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Every assumption drawn from a stated distribution and replayed against the till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8549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Part 2 · How sure are the decisions?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we let vary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Twenty inputs, each with a distribution and a basis; ten that matter most below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3931920"/>
          <a:ext cx="16916400" cy="5029200"/>
        </p:xfrm>
        <a:graphic>
          <a:graphicData uri="http://schemas.openxmlformats.org/drawingml/2006/table">
            <a:tbl>
              <a:tblPr firstRow="0" bandRow="0"/>
              <a:tblGrid>
                <a:gridCol w="4754880"/>
                <a:gridCol w="5486400"/>
                <a:gridCol w="6675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Input</a:t>
                      </a:r>
                    </a:p>
                  </a:txBody>
                  <a:tcPr marL="137160" marR="137160" marT="36576" marB="36576" anchor="ctr">
                    <a:solidFill>
                      <a:srgbClr val="8400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Distribution</a:t>
                      </a:r>
                    </a:p>
                  </a:txBody>
                  <a:tcPr marL="137160" marR="137160" marT="36576" marB="36576" anchor="ctr">
                    <a:solidFill>
                      <a:srgbClr val="8400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Basis</a:t>
                      </a:r>
                    </a:p>
                  </a:txBody>
                  <a:tcPr marL="137160" marR="137160" marT="36576" marB="36576" anchor="ctr">
                    <a:solidFill>
                      <a:srgbClr val="8400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Staff on the early shift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 (40%) or 2 (60%)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Assumption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Customers who come back later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Beta(2,3), mean 40%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Assumption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Generator tariff, next 6 months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Uniform $0.45–$0.59/kWh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Ministry tariffs Mar–Sep 2026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Coffee cost drift since cost master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Triangular −4% / +1% / +7%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Arabica −16% × bean share, plus dairy and packaging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Other food cost drift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Triangular 0% / +7% / +18%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Food CPI +15% → +18% y/y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Matcha landed price rise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Triangular +$15 / +$60 / +$120 per kg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Tencha auctions +22% to +80% y/y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Category price elasticity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Triangular −1.5 / −0.8 / −0.25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Food away from home −0.7 to −0.8; coffee −0.26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Coffee elasticity multiplier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Uniform 1.0–1.5×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Coffee is the most price-compared item (assumption)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Left-digit bias θ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Beta(0.66, 2.09): mean 0.24, IQR 0.06–0.37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Strulov-Shlain (2023) product estimates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Item elasticity multiplier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Uniform 1.0–2.0× category elasticity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Items substitute within the menu</a:t>
                      </a:r>
                    </a:p>
                  </a:txBody>
                  <a:tcPr marL="137160" marR="137160" marT="36576" marB="36576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5800" y="9189720"/>
            <a:ext cx="1691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twenty inputs: reports/tables/mc_inputs.csv · seed 490 · hourly GP bootstrapped over the 181 trading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How sure are we?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Six-month value of each action: median dot, 90% range bar, and the chance it pays</a:t>
            </a:r>
          </a:p>
        </p:txBody>
      </p:sp>
      <p:pic>
        <p:nvPicPr>
          <p:cNvPr id="14" name="Picture 13" descr="c7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926837"/>
            <a:ext cx="15361920" cy="5222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9418320"/>
            <a:ext cx="16916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100% for price rises reflects the elasticity prior: the break-even elasticity (−1.68) lies beyond the whole range we drew. The field test settles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Early hours: staffing decides, not oil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tariff barely moves the answer; who is on shift and who comes back do</a:t>
            </a:r>
          </a:p>
        </p:txBody>
      </p:sp>
      <p:pic>
        <p:nvPicPr>
          <p:cNvPr id="14" name="Picture 13" descr="c8_hours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8960595" cy="4846319"/>
          </a:xfrm>
          <a:prstGeom prst="rect">
            <a:avLst/>
          </a:prstGeom>
        </p:spPr>
      </p:pic>
      <p:pic>
        <p:nvPicPr>
          <p:cNvPr id="15" name="Picture 14" descr="c8_driv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4454895"/>
            <a:ext cx="7269480" cy="38003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8915400"/>
            <a:ext cx="16916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  </a:t>
            </a:r>
            <a:r>
              <a:rPr sz="18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Before switching, confirm the early shift really has two people and that the hour comes off the roster. Median value $656 per six months; P5 −$807, P95 $2.3k.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Raise prices; test the rounding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Uniform +5% beats holding coffee back; rounding direction turns on elasticity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576072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07457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draws where a uniform +5% beats “+5% but hold coffee” (median gap $1.2k)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52160"/>
            <a:ext cx="576072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$7.3k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72769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Median six-month GP from a uniform +5% (P5 $3.0k, P95 $11.1k)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772400"/>
            <a:ext cx="576072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64793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draws where $N.95 beats $N.25 at Harbour: too close to call without a test</a:t>
            </a:r>
          </a:p>
        </p:txBody>
      </p:sp>
      <p:pic>
        <p:nvPicPr>
          <p:cNvPr id="20" name="Picture 19" descr="c9_e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593" y="3931920"/>
            <a:ext cx="975760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the simulation changed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Three recommendations we revised after stress-testing them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694944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78807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6B6B6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44568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Energy prices make early hours unprofitable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3840" y="4572000"/>
            <a:ext cx="640080" cy="411480"/>
          </a:xfrm>
          <a:prstGeom prst="rightArrow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0" y="3977639"/>
            <a:ext cx="8869680" cy="1600200"/>
          </a:xfrm>
          <a:prstGeom prst="roundRect">
            <a:avLst>
              <a:gd name="adj" fmla="val 8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178807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After 20,000 draws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544568"/>
            <a:ext cx="8321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Staffing and returning customers decide it (tariff ρ = 0.05). Confirm the roster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852159"/>
            <a:ext cx="694944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6053327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6B6B6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Before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419088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Raise prices but hold coffee, since arabica fell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63840" y="6446520"/>
            <a:ext cx="640080" cy="411480"/>
          </a:xfrm>
          <a:prstGeom prst="rightArrow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32520" y="5852159"/>
            <a:ext cx="8869680" cy="1600200"/>
          </a:xfrm>
          <a:prstGeom prst="roundRect">
            <a:avLst>
              <a:gd name="adj" fmla="val 8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6053327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After 20,000 draws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6419088"/>
            <a:ext cx="8321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uniform +5% wins in 88% of draws. Hold coffee only if a test shows it is unusually elastic.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7726679"/>
            <a:ext cx="6949440" cy="1600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792784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6B6B6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Before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8293607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Round Harbour’s prices down to $N.95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63840" y="8321040"/>
            <a:ext cx="640080" cy="411480"/>
          </a:xfrm>
          <a:prstGeom prst="rightArrow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7726679"/>
            <a:ext cx="8869680" cy="1600200"/>
          </a:xfrm>
          <a:prstGeom prst="roundRect">
            <a:avLst>
              <a:gd name="adj" fmla="val 8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7927848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After 20,000 draws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8293607"/>
            <a:ext cx="8321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Round-down wins in only 61% of draws. Test three arms: today, $N.95 and $N.25.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Decisions and the tests behind them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Each action ships as a field test with a stop rule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3931920"/>
          <a:ext cx="16916399" cy="4937760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6400800"/>
                <a:gridCol w="3749039"/>
                <a:gridCol w="25603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Action</a:t>
                      </a:r>
                    </a:p>
                  </a:txBody>
                  <a:tcPr marL="137160" marR="137160" marT="45720" marB="45720" anchor="ctr">
                    <a:solidFill>
                      <a:srgbClr val="8400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Test</a:t>
                      </a:r>
                    </a:p>
                  </a:txBody>
                  <a:tcPr marL="137160" marR="137160" marT="45720" marB="45720" anchor="ctr">
                    <a:solidFill>
                      <a:srgbClr val="8400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Stop if</a:t>
                      </a:r>
                    </a:p>
                  </a:txBody>
                  <a:tcPr marL="137160" marR="137160" marT="45720" marB="45720" anchor="ctr">
                    <a:solidFill>
                      <a:srgbClr val="8400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Six-month value</a:t>
                      </a:r>
                    </a:p>
                  </a:txBody>
                  <a:tcPr marL="137160" marR="137160" marT="45720" marB="45720" anchor="ctr">
                    <a:solidFill>
                      <a:srgbClr val="84003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Reconcile the till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POS vs card settlements, cash deposits, cup invoices, 25 Feb – 15 Apr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Totals disagree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Protects every forecast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Open later at Uptown and Garden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Four-week switch; difference-in-differences against Harbour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Branch GP falls more than the saving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$656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Cost refresh + uniform +5%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One branch for four weeks against the other two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Units fall more than 7.9%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$7.3k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Lock matcha supply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6–12-month fixed price or dual source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Premium above $1.2k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$1.2k before premium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Harbour price ladder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Today, $N.95, $N.25 in alternating weeks for 8 weeks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Arm GP below today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$585 / $418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Attachment pilot on cold coffee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Randomised no-discount bakery prompt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Whole-basket GP does not rise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Test first</a:t>
                      </a:r>
                    </a:p>
                  </a:txBody>
                  <a:tcPr marL="137160" marR="13716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could make us wrong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limits we know about, and which findings survive them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8321040" cy="224028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5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file may be simulated or re-dated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768096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Then chain 1 stands and the growth trend goes. Chains 2–5 rest on the menu, the costs and Lebanon’s real 2026 prices, so they survive.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977639"/>
            <a:ext cx="8321040" cy="22402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425195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Constant-elasticity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846320"/>
            <a:ext cx="768096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ignores customers lost to competitors for good, the real risk of any price rise. The one-branch test measures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6492240"/>
            <a:ext cx="8321040" cy="22402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676655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External figures are approximate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7360919"/>
            <a:ext cx="768096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News, industry and vendor sources; matcha prices especially. Every figure and URL is in outside_research_2026.csv.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492240"/>
            <a:ext cx="8321040" cy="22402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676655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Branches are anonymised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7360919"/>
            <a:ext cx="768096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cannot map Harbour, Garden and Uptown to streets, so a branch on EDL or its own generator pays a different 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666018" y="8791035"/>
            <a:ext cx="955964" cy="955964"/>
            <a:chOff x="0" y="0"/>
            <a:chExt cx="1274618" cy="12746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4572" cy="1274572"/>
            </a:xfrm>
            <a:custGeom>
              <a:avLst/>
              <a:gdLst/>
              <a:ahLst/>
              <a:cxnLst/>
              <a:rect l="l" t="t" r="r" b="b"/>
              <a:pathLst>
                <a:path w="1274572" h="1274572">
                  <a:moveTo>
                    <a:pt x="0" y="0"/>
                  </a:moveTo>
                  <a:lnTo>
                    <a:pt x="1274572" y="0"/>
                  </a:lnTo>
                  <a:lnTo>
                    <a:pt x="1274572" y="1274572"/>
                  </a:lnTo>
                  <a:lnTo>
                    <a:pt x="0" y="1274572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6742334" y="7297498"/>
            <a:ext cx="4803333" cy="1122274"/>
            <a:chOff x="0" y="0"/>
            <a:chExt cx="6404444" cy="1496365"/>
          </a:xfrm>
        </p:grpSpPr>
        <p:sp>
          <p:nvSpPr>
            <p:cNvPr id="5" name="Freeform 5" descr="Text  Description automatically generated with medium confidence"/>
            <p:cNvSpPr/>
            <p:nvPr/>
          </p:nvSpPr>
          <p:spPr>
            <a:xfrm>
              <a:off x="0" y="0"/>
              <a:ext cx="6404483" cy="1496314"/>
            </a:xfrm>
            <a:custGeom>
              <a:avLst/>
              <a:gdLst/>
              <a:ahLst/>
              <a:cxnLst/>
              <a:rect l="l" t="t" r="r" b="b"/>
              <a:pathLst>
                <a:path w="6404483" h="1496314">
                  <a:moveTo>
                    <a:pt x="0" y="0"/>
                  </a:moveTo>
                  <a:lnTo>
                    <a:pt x="6404483" y="0"/>
                  </a:lnTo>
                  <a:lnTo>
                    <a:pt x="6404483" y="1496314"/>
                  </a:lnTo>
                  <a:lnTo>
                    <a:pt x="0" y="1496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" b="-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40033" y="4671136"/>
            <a:ext cx="6007935" cy="42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sz="337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</Words>
  <Application>Microsoft Office PowerPoint</Application>
  <PresentationFormat>Custom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Helvetica World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MSFEA_AUB_PPT template.pptx</dc:title>
  <cp:lastModifiedBy>User</cp:lastModifiedBy>
  <cp:revision>3</cp:revision>
  <dcterms:created xsi:type="dcterms:W3CDTF">2006-08-16T00:00:00Z</dcterms:created>
  <dcterms:modified xsi:type="dcterms:W3CDTF">2026-05-04T22:07:13Z</dcterms:modified>
  <dc:identifier>DAG5hWe2SnY</dc:identifier>
</cp:coreProperties>
</file>