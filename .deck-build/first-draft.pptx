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3e7db5fd7b44d7" /><Relationship Type="http://schemas.openxmlformats.org/officeDocument/2006/relationships/extended-properties" Target="/docProps/app.xml" Id="R0db8c2d17e544e76" /><Relationship Type="http://schemas.openxmlformats.org/officeDocument/2006/relationships/officeDocument" Target="/ppt/presentation.xml" Id="R9c93d6ae21eb43e0"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4a200e747e824d54"/>
  </p:sldMasterIdLst>
  <p:notesMasterIdLst>
    <p:notesMasterId xmlns:r="http://schemas.openxmlformats.org/officeDocument/2006/relationships" r:id="R33b0fd29598c42d0"/>
  </p:notesMasterIdLst>
  <p:sldIdLst>
    <p:sldId xmlns:r="http://schemas.openxmlformats.org/officeDocument/2006/relationships" id="256" r:id="Re8b1e41f721440af"/>
    <p:sldId xmlns:r="http://schemas.openxmlformats.org/officeDocument/2006/relationships" id="257" r:id="R6866d8a87bfd4843"/>
    <p:sldId xmlns:r="http://schemas.openxmlformats.org/officeDocument/2006/relationships" id="258" r:id="Ra966b7575ac14280"/>
    <p:sldId xmlns:r="http://schemas.openxmlformats.org/officeDocument/2006/relationships" id="259" r:id="Rdaee7899d1544283"/>
    <p:sldId xmlns:r="http://schemas.openxmlformats.org/officeDocument/2006/relationships" id="260" r:id="R00fd2b81b77b4889"/>
    <p:sldId xmlns:r="http://schemas.openxmlformats.org/officeDocument/2006/relationships" id="261" r:id="R09d4c209f2834d0f"/>
    <p:sldId xmlns:r="http://schemas.openxmlformats.org/officeDocument/2006/relationships" id="262" r:id="R7be4ef317fd14585"/>
    <p:sldId xmlns:r="http://schemas.openxmlformats.org/officeDocument/2006/relationships" id="263" r:id="R0f06c3e46e2d40c8"/>
    <p:sldId xmlns:r="http://schemas.openxmlformats.org/officeDocument/2006/relationships" id="264" r:id="R8d5f3f7b3cee47c4"/>
    <p:sldId xmlns:r="http://schemas.openxmlformats.org/officeDocument/2006/relationships" id="265" r:id="R812d6f342aae453e"/>
    <p:sldId xmlns:r="http://schemas.openxmlformats.org/officeDocument/2006/relationships" id="266" r:id="R3ad4550ceb564119"/>
    <p:sldId xmlns:r="http://schemas.openxmlformats.org/officeDocument/2006/relationships" id="267" r:id="Rdbfa5aa7dd524137"/>
  </p:sldIdLst>
  <p:sldSz cx="18288000" cy="10287000"/>
  <p:notesSz cx="6858000" cy="9144000"/>
  <p:embeddedFontLst>
    <p:embeddedFont>
      <p:font typeface="Calibri"/>
      <p:regular xmlns:r="http://schemas.openxmlformats.org/officeDocument/2006/relationships" r:id="Rf3d21158f9c448dc"/>
      <p:bold xmlns:r="http://schemas.openxmlformats.org/officeDocument/2006/relationships" r:id="Rd7efb5371e6249db"/>
      <p:italic xmlns:r="http://schemas.openxmlformats.org/officeDocument/2006/relationships" r:id="Rbb3301c2380e4756"/>
      <p:boldItalic xmlns:r="http://schemas.openxmlformats.org/officeDocument/2006/relationships" r:id="R3a1eff84af38456e"/>
    </p:embeddedFont>
    <p:embeddedFont>
      <p:font typeface="Helvetica World"/>
      <p:regular xmlns:r="http://schemas.openxmlformats.org/officeDocument/2006/relationships" r:id="Rb20877f5971540b1"/>
    </p:embeddedFont>
    <p:embeddedFont>
      <p:font typeface="Helvetica World Bold"/>
      <p:regular xmlns:r="http://schemas.openxmlformats.org/officeDocument/2006/relationships" r:id="R9be824e5ea8d445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6381982d4d14f9e" /><Relationship Type="http://schemas.openxmlformats.org/officeDocument/2006/relationships/slideMaster" Target="/ppt/slideMasters/slideMaster1.xml" Id="R4a200e747e824d54" /><Relationship Type="http://schemas.openxmlformats.org/officeDocument/2006/relationships/notesMaster" Target="/ppt/notesMasters/notesMaster1.xml" Id="R33b0fd29598c42d0" /><Relationship Type="http://schemas.openxmlformats.org/officeDocument/2006/relationships/presProps" Target="/ppt/presProps.xml" Id="R490c488792d348e2" /><Relationship Type="http://schemas.openxmlformats.org/officeDocument/2006/relationships/viewProps" Target="/ppt/viewProps.xml" Id="R3734ed0e43e84a87" /><Relationship Type="http://schemas.openxmlformats.org/officeDocument/2006/relationships/tableStyles" Target="/ppt/tableStyles.xml" Id="R370a601307a04de6" /><Relationship Type="http://schemas.openxmlformats.org/officeDocument/2006/relationships/font" Target="/ppt/fonts/font.dat" Id="Rf3d21158f9c448dc" /><Relationship Type="http://schemas.openxmlformats.org/officeDocument/2006/relationships/font" Target="/ppt/fonts/font2.dat" Id="Rd7efb5371e6249db" /><Relationship Type="http://schemas.openxmlformats.org/officeDocument/2006/relationships/font" Target="/ppt/fonts/font3.dat" Id="Rbb3301c2380e4756" /><Relationship Type="http://schemas.openxmlformats.org/officeDocument/2006/relationships/font" Target="/ppt/fonts/font4.dat" Id="R3a1eff84af38456e" /><Relationship Type="http://schemas.openxmlformats.org/officeDocument/2006/relationships/font" Target="/ppt/fonts/font5.dat" Id="Rb20877f5971540b1" /><Relationship Type="http://schemas.openxmlformats.org/officeDocument/2006/relationships/font" Target="/ppt/fonts/font6.dat" Id="R9be824e5ea8d445c" /><Relationship Type="http://schemas.openxmlformats.org/officeDocument/2006/relationships/slide" Target="/ppt/slides/slide1.xml" Id="Re8b1e41f721440af" /><Relationship Type="http://schemas.openxmlformats.org/officeDocument/2006/relationships/slide" Target="/ppt/slides/slide2.xml" Id="R6866d8a87bfd4843" /><Relationship Type="http://schemas.openxmlformats.org/officeDocument/2006/relationships/slide" Target="/ppt/slides/slide3.xml" Id="Ra966b7575ac14280" /><Relationship Type="http://schemas.openxmlformats.org/officeDocument/2006/relationships/slide" Target="/ppt/slides/slide4.xml" Id="Rdaee7899d1544283" /><Relationship Type="http://schemas.openxmlformats.org/officeDocument/2006/relationships/slide" Target="/ppt/slides/slide5.xml" Id="R00fd2b81b77b4889" /><Relationship Type="http://schemas.openxmlformats.org/officeDocument/2006/relationships/slide" Target="/ppt/slides/slide6.xml" Id="R09d4c209f2834d0f" /><Relationship Type="http://schemas.openxmlformats.org/officeDocument/2006/relationships/slide" Target="/ppt/slides/slide7.xml" Id="R7be4ef317fd14585" /><Relationship Type="http://schemas.openxmlformats.org/officeDocument/2006/relationships/slide" Target="/ppt/slides/slide8.xml" Id="R0f06c3e46e2d40c8" /><Relationship Type="http://schemas.openxmlformats.org/officeDocument/2006/relationships/slide" Target="/ppt/slides/slide9.xml" Id="R8d5f3f7b3cee47c4" /><Relationship Type="http://schemas.openxmlformats.org/officeDocument/2006/relationships/slide" Target="/ppt/slides/slide10.xml" Id="R812d6f342aae453e" /><Relationship Type="http://schemas.openxmlformats.org/officeDocument/2006/relationships/slide" Target="/ppt/slides/slide11.xml" Id="R3ad4550ceb564119" /><Relationship Type="http://schemas.openxmlformats.org/officeDocument/2006/relationships/slide" Target="/ppt/slides/slide12.xml" Id="Rdbfa5aa7dd5241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8f07e366ba48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860c50cb344b51" /><Relationship Type="http://schemas.openxmlformats.org/officeDocument/2006/relationships/notesMaster" Target="/ppt/notesMasters/notesMaster1.xml" Id="R0bb2b27f606446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25ba24f6b24b43" /><Relationship Type="http://schemas.openxmlformats.org/officeDocument/2006/relationships/notesMaster" Target="/ppt/notesMasters/notesMaster1.xml" Id="R51a40c2dfd5b43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93445fb9b9450e" /><Relationship Type="http://schemas.openxmlformats.org/officeDocument/2006/relationships/notesMaster" Target="/ppt/notesMasters/notesMaster1.xml" Id="R7006d18c81a440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3720185acd4e63" /><Relationship Type="http://schemas.openxmlformats.org/officeDocument/2006/relationships/notesMaster" Target="/ppt/notesMasters/notesMaster1.xml" Id="R18d08c93eb5e4b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9c658adbd64dd5" /><Relationship Type="http://schemas.openxmlformats.org/officeDocument/2006/relationships/notesMaster" Target="/ppt/notesMasters/notesMaster1.xml" Id="R13940a14735040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2fac1993ef417d" /><Relationship Type="http://schemas.openxmlformats.org/officeDocument/2006/relationships/notesMaster" Target="/ppt/notesMasters/notesMaster1.xml" Id="Rccdd1f23d1a24f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521544b3594797" /><Relationship Type="http://schemas.openxmlformats.org/officeDocument/2006/relationships/notesMaster" Target="/ppt/notesMasters/notesMaster1.xml" Id="R28d5c7b32f5c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d29d46c0e648a6" /><Relationship Type="http://schemas.openxmlformats.org/officeDocument/2006/relationships/notesMaster" Target="/ppt/notesMasters/notesMaster1.xml" Id="R68fe9c1ac4884a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9232fdf4bb45de" /><Relationship Type="http://schemas.openxmlformats.org/officeDocument/2006/relationships/notesMaster" Target="/ppt/notesMasters/notesMaster1.xml" Id="Ra5aca1560fc141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70ce4caf6e432a" /><Relationship Type="http://schemas.openxmlformats.org/officeDocument/2006/relationships/notesMaster" Target="/ppt/notesMasters/notesMaster1.xml" Id="Rf789dba2bc5c48d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26bc4ff21048e1" /><Relationship Type="http://schemas.openxmlformats.org/officeDocument/2006/relationships/notesMaster" Target="/ppt/notesMasters/notesMaster1.xml" Id="R616aff0847a245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23325f80104bbe" /><Relationship Type="http://schemas.openxmlformats.org/officeDocument/2006/relationships/notesMaster" Target="/ppt/notesMasters/notesMaster1.xml" Id="Rfe56f9c329764d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Stories Coffee operational recommendations. Evidence: local transaction data for January–June 2026. Numerical examples explicitly marked as illustrative. MSFEA typography, logos and layouts reused from the existing project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reports/tables/outside_hour_economics.csv and reports/tables/hour.csv. 181 calendar days, January–June 2026. Early-hour labor and energy costs are unmeasured. Opening at 09:00/08:00 is a pilot candidate, not a proven optimum. Compare matched days and track whether early buyers return later. Gross profit means net revenue minus recorded product cost, before labor and rent.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reports/tables/branches.csv. Uptown gross profit $34,882.06 / 181 = $192.72 per calendar day. Permanent closure gain = avoidable operating costs + recaptured contribution at other branches - lost branch contribution - exit costs. Capacity, migration, contractual costs, and actual avoidable bills are unknown. Garden costs should also be reconciled to invoices before evaluating profitability. No branch closure is established by these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stories_transactions.csv, quantities summed by product. Iced Latte 2,629, Iced Matcha 2,322, Butter Croissant 2,238 units in January–June 2026. The 35-unit example is illustrative, not a computed order recommendation. For ingredients, convert product forecasts using verified recipes and supplier pack sizes. Stock, supplier lead time, shelf life, inventory positions and lost demand are absent. Exclude expired stock and avoid ordering more than can sell before expiry.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source: stories_transactions.csv, Harbour Butter Croissant unit price $3.83, recorded unit cost $1.14. Illustrative markdown price rounded to $3.06. Five otherwise discarded units sold bring $15.30 incremental receipts, before extra handling, substitution and disposal effects. Already produced cost is sunk for the sell-versus-discard decision, but must be included in future batch planning. No actual waste or expiry records exist. Confirm food safety and shelf life. Track prepared/sold/discarded units, reason and stockout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stories_transactions.csv. Harbour Iced Latte list price $5.62, recorded unit cost $1.66, fixed throughout the extract. $5.90 is an illustrative rounded +5% test price, not an estimated optimal price. Elasticity is unknown. Refresh actual costs first, especially Garden’s roughly 43% same-item cost difference. Prefer randomized stable eligibility or comparable service blocks if feasible. Track whole-basket contribution, nonbuyers, substitutions and purchases moving among branches. Do not combine with combo or discount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stories_transactions.csv. Harbour Butter Croissant price $3.83, recorded unit cost $1.14. Illustrative lower price $3.45, about 10% off. GP per unit declines from $2.69 to $2.31. Required volume factor = 2.69/2.31 = 1.1645, or 16.45% extra units, rounded conservatively to +17%. Assumes no existing discounts, unchanged cost/mix, no substitution, no extra costs or basket effects. This is a screening calculation, not a demand forecast. Slow sales alone do not show price is the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stories_transactions.csv and reports/tables/category_pair_null.csv. Harbour Iced Latte $5.62 + Butter Croissant $3.83 = $9.45. Recorded costs $1.66 + $1.14 = $2.80. Illustrative 10% off rounded to $8.51. Bakery + Cold Coffee co-purchase enrichment 1.18× in Jan–Apr and 1.23× in May–Jun after context/basket-size adjustment. Bakery + Matcha &amp; Tea enrichment about 1.76×/1.72×. These support category-level candidates only. The named product pairs are proposals, not established product-level winners. Pairing is association and does not prove an offer causes purchases.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Harbour Latte/Croissant calculation using supplied list prices and recorded costs. Latte alone GP = 5.62 - 1.66 = 3.96. Combo GP = 8.51 - 2.80 = 5.71. Increment = $1.75 for a new attachment. Each existing full-price pair loses 9.45 - 8.51 = $0.94. One hundred existing pairs lose $94, requiring ceil(94/1.75) = 54 new attachments before program costs, waste, substitutions, lost baskets and existing discounts. This is a screening example, not observed uptake. Analyze actual net prices and match branch/daypart. Randomize offer/no-offer blocks and include all arrivals/completions. Repeat in later weeks before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analysis/outputs/REPORT.md and reports/experiment_plan.md. Prior campaign comparisons are inconclusive and discounted baskets are selected/mechanically larger. Neither 10% nor 15% has proven incremental contribution. Morning is a candidate based on recorded hourly demand, not proven demand elasticity. Use a prespecified test duration/sample size, stable pre-purchase assignment, visitor and nonbuyer logging, comparable weekday/daypart groups, and follow-up. Include discount/program costs, purchases moving between times or branches, queue harm, and whole-chain contribution. January and February are lower in this six-month extract, but annual winter seasonality cannot be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scope: January 1–June 30, 2026, 181 calendar days, three branches. Sources: reports/recommendations_guide.md, reports/causal_decisions.md and reports/experiment_plan.md. No operational pilot has been performed. Prices, inventory examples and offer uptake on these slides are either observed inputs or explicitly illustrative calculations. Do not add overlapping scenario gains. Gross profit in source tables excludes payroll/rent, so actual operating earnings require new cost records. Missing stock/waste and nonbuyer data constrain decisions. Keep changes separate to identify their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Full detail: reports/recommendations.pdf and the full deck, Stories_Outside_In_Deck.pptx.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b3cf1034e745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5ef57358c24b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680f69f41c45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5464f377794c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774d522787485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82267719bd462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043cd04094941e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f75aef0723846b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98385af64c0458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760792953264f5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51a9fdb3e6b421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A3B5AC2-E5C0-4C63-8DFD-1EBAFD7D1A8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129A6D5D-2631-4820-AE9F-48095AF08EB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2A273E12-9C54-4F40-B1C7-F00573206A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4A0B600A-19CB-4ABB-8B1F-56E4CE266F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9D0C423-A695-45B6-A516-8F2BD889E3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1E4DF3-3607-4992-8511-8B42A81E82F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3150137-87BA-4D23-9088-5A7E2386AA7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CC7F908-0477-4F1B-B56E-15C08C58D18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E34F9CD3-64B8-4234-AB71-0F22FF6F66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6A43A47-80E3-422A-BF41-CAA8D21BCF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0BAC83-BFDC-4895-AFEE-D1946D16FFFD}"/>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F0D0D7C-502B-4826-AB36-019A2D16795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45B3771-6273-4D70-933E-EE3863FAE2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3C27AA71-043A-4078-8585-88734B67FB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5B45745-AFBB-4DC1-8C89-646A22E15B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A7D825-9672-44A4-9B88-E355A8A9FD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7424D9C-0403-4EED-9A17-85C8791C625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AE13EE3-C326-41AC-8B5A-1E859AB617EF}"/>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6BF665B-DF93-442F-B09E-64653B2729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6" name="Footer Placeholder 5">
            <a:extLst xmlns:a="http://schemas.openxmlformats.org/drawingml/2006/main">
              <a:ext uri="{FF2B5EF4-FFF2-40B4-BE49-F238E27FC236}">
                <a16:creationId xmlns:a16="http://schemas.microsoft.com/office/drawing/2014/main" id="{16B90478-4A8A-4B95-8C25-25C94EACCB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E76EFBC-0DCA-4DAD-A2A0-A0C7567095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CA627F-E321-4919-9ECE-A077CC026D7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AA775866-84FA-4E77-B9DA-55552ED168BE}"/>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06DB346-90AD-4ADC-8376-DE5ACC6F0B91}"/>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AB8B5CE2-636D-486B-818C-B72AA063406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CAF4145-AEF9-43C0-9B47-9389990862B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9CEC652B-FC03-492A-9029-BFFC76590A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8" name="Footer Placeholder 7">
            <a:extLst xmlns:a="http://schemas.openxmlformats.org/drawingml/2006/main">
              <a:ext uri="{FF2B5EF4-FFF2-40B4-BE49-F238E27FC236}">
                <a16:creationId xmlns:a16="http://schemas.microsoft.com/office/drawing/2014/main" id="{5B714498-511A-46C2-BF76-D25B43E8E9E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ED5D821-58A2-4DBC-A562-65C8EA29F0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7D90B0A-C243-44F1-89BF-747A66F2F3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D5B4F2E-42B6-4C9C-8818-BA28239641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4" name="Footer Placeholder 3">
            <a:extLst xmlns:a="http://schemas.openxmlformats.org/drawingml/2006/main">
              <a:ext uri="{FF2B5EF4-FFF2-40B4-BE49-F238E27FC236}">
                <a16:creationId xmlns:a16="http://schemas.microsoft.com/office/drawing/2014/main" id="{B9C38E15-EC14-4361-95A8-6FBBD8BFAA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2E56BCDE-B91F-4FE2-9626-6824DC62DA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5F19FAF-034E-4014-9353-6C84B22E92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3" name="Footer Placeholder 2">
            <a:extLst xmlns:a="http://schemas.openxmlformats.org/drawingml/2006/main">
              <a:ext uri="{FF2B5EF4-FFF2-40B4-BE49-F238E27FC236}">
                <a16:creationId xmlns:a16="http://schemas.microsoft.com/office/drawing/2014/main" id="{DB8FD3AA-8419-4A8B-8A13-72263C37DA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BA95638-32CE-4FFE-AFB0-BCE95AB3E9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CA3E06-123A-432B-AD23-AF16D7114214}"/>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7E84311-2162-4997-8A2E-1F9B4CC2879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9B006AD3-DF6C-4FC1-B277-5C097E4B87CB}"/>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894D1A2-F983-4D57-8A47-AE6A5FE27E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6" name="Footer Placeholder 5">
            <a:extLst xmlns:a="http://schemas.openxmlformats.org/drawingml/2006/main">
              <a:ext uri="{FF2B5EF4-FFF2-40B4-BE49-F238E27FC236}">
                <a16:creationId xmlns:a16="http://schemas.microsoft.com/office/drawing/2014/main" id="{9B2B91BC-89D0-4471-AE08-98DF3735F7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4163F59-E3D8-468C-9A75-44CD3F11E9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ECCE26-BE71-481E-973C-7D629319B7C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3818A5F-C923-4EEA-AB7F-1425037B8F7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1991A3B-05EE-412A-A5F2-AAE6D5D66B5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F58699C-7902-4642-8976-8E9DCE13590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6" name="Footer Placeholder 5">
            <a:extLst xmlns:a="http://schemas.openxmlformats.org/drawingml/2006/main">
              <a:ext uri="{FF2B5EF4-FFF2-40B4-BE49-F238E27FC236}">
                <a16:creationId xmlns:a16="http://schemas.microsoft.com/office/drawing/2014/main" id="{CE1CF28F-D339-49ED-B33E-7515CCD6F6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4D7875E-B9A6-48F7-866E-F60AA67312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3EB6DB-BF23-4058-AB15-5A6CFA007AE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F80877D-19BF-4918-84B6-254AB1A4768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E0F3272-7051-461D-9978-E070CD28D1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B65BADE4-B2FC-4C0C-87B4-038A5E6411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93F8C85-D385-4668-A99D-4B611A7B72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964C8E1-2598-4EE7-B1C6-E9710BC5A21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2E349E3-DED7-4426-B6B4-28B2D1881D8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9F1140E-E93E-455C-B3B1-6752CB7D85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3E6FD04C-D95E-4A68-985A-23B64D5CD9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B959FF9-68AD-435F-A807-81D5FA438B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0dbb03b0ebc4623" /><Relationship Type="http://schemas.openxmlformats.org/officeDocument/2006/relationships/slideLayout" Target="/ppt/slideLayouts/slideLayout1.xml" Id="Re09de0ec42f44467" /><Relationship Type="http://schemas.openxmlformats.org/officeDocument/2006/relationships/slideLayout" Target="/ppt/slideLayouts/slideLayout2.xml" Id="R1c7e6703496f485f" /><Relationship Type="http://schemas.openxmlformats.org/officeDocument/2006/relationships/slideLayout" Target="/ppt/slideLayouts/slideLayout3.xml" Id="Rb9973c20394f47eb" /><Relationship Type="http://schemas.openxmlformats.org/officeDocument/2006/relationships/slideLayout" Target="/ppt/slideLayouts/slideLayout4.xml" Id="R195f15cf9b9c4b93" /><Relationship Type="http://schemas.openxmlformats.org/officeDocument/2006/relationships/slideLayout" Target="/ppt/slideLayouts/slideLayout5.xml" Id="R1dd7abc51b424c70" /><Relationship Type="http://schemas.openxmlformats.org/officeDocument/2006/relationships/slideLayout" Target="/ppt/slideLayouts/slideLayout6.xml" Id="Rebffd8e011674b97" /><Relationship Type="http://schemas.openxmlformats.org/officeDocument/2006/relationships/slideLayout" Target="/ppt/slideLayouts/slideLayout7.xml" Id="Rbda17b8b36cc48fa" /><Relationship Type="http://schemas.openxmlformats.org/officeDocument/2006/relationships/slideLayout" Target="/ppt/slideLayouts/slideLayout8.xml" Id="R818b7402e5ca4846" /><Relationship Type="http://schemas.openxmlformats.org/officeDocument/2006/relationships/slideLayout" Target="/ppt/slideLayouts/slideLayout9.xml" Id="R5e0a4f6fad784855" /><Relationship Type="http://schemas.openxmlformats.org/officeDocument/2006/relationships/slideLayout" Target="/ppt/slideLayouts/slideLayout10.xml" Id="Raa1764a1d2c34bf7" /><Relationship Type="http://schemas.openxmlformats.org/officeDocument/2006/relationships/slideLayout" Target="/ppt/slideLayouts/slideLayout11.xml" Id="Racda6120b680477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E3326D7-9C53-4FCD-BDC6-8BDAB3C8F10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3ECA146-BDA7-4A12-B491-32BFCCC1187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45513BF-31C6-40A4-BDD3-1F9B21A0DBDE}"/>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5/5/2026</a:t>
            </a:fld>
            <a:endParaRPr/>
          </a:p>
        </p:txBody>
      </p:sp>
      <p:sp>
        <p:nvSpPr>
          <p:cNvPr id="5" name="Footer Placeholder 4">
            <a:extLst xmlns:a="http://schemas.openxmlformats.org/drawingml/2006/main">
              <a:ext uri="{FF2B5EF4-FFF2-40B4-BE49-F238E27FC236}">
                <a16:creationId xmlns:a16="http://schemas.microsoft.com/office/drawing/2014/main" id="{135DFD2C-CB1D-4501-8D8B-861C58936FA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5B110C8-E499-41A9-A9EA-256E5A787E48}"/>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9de0ec42f44467"/>
    <p:sldLayoutId xmlns:r="http://schemas.openxmlformats.org/officeDocument/2006/relationships" id="2147483650" r:id="R1c7e6703496f485f"/>
    <p:sldLayoutId xmlns:r="http://schemas.openxmlformats.org/officeDocument/2006/relationships" id="2147483651" r:id="Rb9973c20394f47eb"/>
    <p:sldLayoutId xmlns:r="http://schemas.openxmlformats.org/officeDocument/2006/relationships" id="2147483652" r:id="R195f15cf9b9c4b93"/>
    <p:sldLayoutId xmlns:r="http://schemas.openxmlformats.org/officeDocument/2006/relationships" id="2147483653" r:id="R1dd7abc51b424c70"/>
    <p:sldLayoutId xmlns:r="http://schemas.openxmlformats.org/officeDocument/2006/relationships" id="2147483654" r:id="Rebffd8e011674b97"/>
    <p:sldLayoutId xmlns:r="http://schemas.openxmlformats.org/officeDocument/2006/relationships" id="2147483655" r:id="Rbda17b8b36cc48fa"/>
    <p:sldLayoutId xmlns:r="http://schemas.openxmlformats.org/officeDocument/2006/relationships" id="2147483656" r:id="R818b7402e5ca4846"/>
    <p:sldLayoutId xmlns:r="http://schemas.openxmlformats.org/officeDocument/2006/relationships" id="2147483657" r:id="R5e0a4f6fad784855"/>
    <p:sldLayoutId xmlns:r="http://schemas.openxmlformats.org/officeDocument/2006/relationships" id="2147483658" r:id="Raa1764a1d2c34bf7"/>
    <p:sldLayoutId xmlns:r="http://schemas.openxmlformats.org/officeDocument/2006/relationships" id="2147483659" r:id="Racda6120b6804775"/>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735235b025f4503" /><Relationship Type="http://schemas.openxmlformats.org/officeDocument/2006/relationships/image" Target="/ppt/media/image.png" Id="R015e202ec931405b" /><Relationship Type="http://schemas.openxmlformats.org/officeDocument/2006/relationships/notesSlide" Target="/ppt/notesSlides/notesSlide1.xml" Id="R3400f307e5be4f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ad19372f5fb4121" /><Relationship Type="http://schemas.openxmlformats.org/officeDocument/2006/relationships/image" Target="/ppt/media/image2.png" Id="R7a7efd892e9540e0" /><Relationship Type="http://schemas.openxmlformats.org/officeDocument/2006/relationships/notesSlide" Target="/ppt/notesSlides/notesSlide2.xml" Id="R64e31a3670c24e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a5f8bb36b394966" /><Relationship Type="http://schemas.openxmlformats.org/officeDocument/2006/relationships/image" Target="/ppt/media/image2.png" Id="Ra76483168a8d4294" /><Relationship Type="http://schemas.openxmlformats.org/officeDocument/2006/relationships/notesSlide" Target="/ppt/notesSlides/notesSlide3.xml" Id="Rd53800ec060346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bbb67ef428e4bed" /><Relationship Type="http://schemas.openxmlformats.org/officeDocument/2006/relationships/image" Target="/ppt/media/image2.png" Id="R856fe3a6b0104299" /><Relationship Type="http://schemas.openxmlformats.org/officeDocument/2006/relationships/notesSlide" Target="/ppt/notesSlides/notesSlide4.xml" Id="R254e479e64fa4f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fe249248ec94478" /><Relationship Type="http://schemas.openxmlformats.org/officeDocument/2006/relationships/image" Target="/ppt/media/image2.png" Id="R6807053f67c34536" /><Relationship Type="http://schemas.openxmlformats.org/officeDocument/2006/relationships/notesSlide" Target="/ppt/notesSlides/notesSlide5.xml" Id="Rf4e1645d3a2b41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98581bdc0e74ec1" /><Relationship Type="http://schemas.openxmlformats.org/officeDocument/2006/relationships/image" Target="/ppt/media/image2.png" Id="R2756b55b21114ee9" /><Relationship Type="http://schemas.openxmlformats.org/officeDocument/2006/relationships/notesSlide" Target="/ppt/notesSlides/notesSlide6.xml" Id="R5f0ae0b80b304e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692625bdfde544fa" /><Relationship Type="http://schemas.openxmlformats.org/officeDocument/2006/relationships/image" Target="/ppt/media/image2.png" Id="R3b913d04d5d04102" /><Relationship Type="http://schemas.openxmlformats.org/officeDocument/2006/relationships/notesSlide" Target="/ppt/notesSlides/notesSlide7.xml" Id="R4ea3b9dc925f4f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ca453bbc29ae4955" /><Relationship Type="http://schemas.openxmlformats.org/officeDocument/2006/relationships/image" Target="/ppt/media/image2.png" Id="Reb78217c453a46f1" /><Relationship Type="http://schemas.openxmlformats.org/officeDocument/2006/relationships/notesSlide" Target="/ppt/notesSlides/notesSlide8.xml" Id="R9235cfeee0ba45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ffb71ce200d48eb" /><Relationship Type="http://schemas.openxmlformats.org/officeDocument/2006/relationships/image" Target="/ppt/media/image2.png" Id="R4ae8f9e1d4364899" /><Relationship Type="http://schemas.openxmlformats.org/officeDocument/2006/relationships/notesSlide" Target="/ppt/notesSlides/notesSlide9.xml" Id="R48e4a537a6f64a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0340706d3b9740eb" /><Relationship Type="http://schemas.openxmlformats.org/officeDocument/2006/relationships/image" Target="/ppt/media/image2.png" Id="Rceec8568b5fc44d9" /><Relationship Type="http://schemas.openxmlformats.org/officeDocument/2006/relationships/notesSlide" Target="/ppt/notesSlides/notesSlide10.xml" Id="R16f4ed6b946841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574f92d15bd04afe" /><Relationship Type="http://schemas.openxmlformats.org/officeDocument/2006/relationships/image" Target="/ppt/media/image2.png" Id="Rf4f325339e5f48de" /><Relationship Type="http://schemas.openxmlformats.org/officeDocument/2006/relationships/notesSlide" Target="/ppt/notesSlides/notesSlide11.xml" Id="Rcdcb1550672748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d666a4ff6544e0c" /><Relationship Type="http://schemas.openxmlformats.org/officeDocument/2006/relationships/image" Target="/ppt/media/image3.png" Id="Rc01124706e0b4da2" /><Relationship Type="http://schemas.openxmlformats.org/officeDocument/2006/relationships/notesSlide" Target="/ppt/notesSlides/notesSlide12.xml" Id="Rd1588deea4ec4557" /></Relationships>
</file>

<file path=ppt/slides/slide1.xml><?xml version="1.0" encoding="utf-8"?>
<p:sld xmlns:p="http://schemas.openxmlformats.org/presentationml/2006/main">
  <p:cSld>
    <p:bg>
      <p:bgPr>
        <a:solidFill xmlns:a="http://schemas.openxmlformats.org/drawingml/2006/main">
          <a:srgbClr val="840032"/>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237E9C3-CAD3-48CE-BD1B-B375111E48DE}"/>
              </a:ext>
            </a:extLst>
          </p:cNvPr>
          <p:cNvSpPr>
            <a:spLocks xmlns:a="http://schemas.openxmlformats.org/drawingml/2006/main" noGrp="1"/>
          </p:cNvSpPr>
          <p:nvPr/>
        </p:nvSpPr>
        <p:spPr>
          <a:xfrm xmlns:a="http://schemas.openxmlformats.org/drawingml/2006/main" rot="0" flipH="0" flipV="0">
            <a:off x="1037462" y="1510436"/>
            <a:ext cx="6769322" cy="1581625"/>
          </a:xfrm>
          <a:custGeom xmlns:a="http://schemas.openxmlformats.org/drawingml/2006/main">
            <a:rect l="l" t="t" r="r" b="b"/>
            <a:pathLst>
              <a:path w="9025763" h="2108835">
                <a:moveTo>
                  <a:pt x="0" y="0"/>
                </a:moveTo>
                <a:lnTo>
                  <a:pt x="9025763" y="0"/>
                </a:lnTo>
                <a:lnTo>
                  <a:pt x="9025763" y="2108835"/>
                </a:lnTo>
                <a:lnTo>
                  <a:pt x="0" y="2108835"/>
                </a:lnTo>
                <a:lnTo>
                  <a:pt x="0" y="0"/>
                </a:lnTo>
                <a:close/>
              </a:path>
            </a:pathLst>
          </a:custGeom>
          <a:blipFill xmlns:a="http://schemas.openxmlformats.org/drawingml/2006/main">
            <a:blip xmlns:r="http://schemas.openxmlformats.org/officeDocument/2006/relationships" r:embed="R015e202ec931405b"/>
            <a:stretch>
              <a:fillRect l="-23" t="0" r="-23" b="0"/>
            </a:stretch>
          </a:blipFill>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BA9A9D3D-7EE7-47B5-9AC5-5A0A8D62D8FE}"/>
              </a:ext>
            </a:extLst>
          </p:cNvPr>
          <p:cNvSpPr>
            <a:spLocks xmlns:a="http://schemas.openxmlformats.org/drawingml/2006/main" noGrp="1"/>
          </p:cNvSpPr>
          <p:nvPr/>
        </p:nvSpPr>
        <p:spPr>
          <a:xfrm xmlns:a="http://schemas.openxmlformats.org/drawingml/2006/main" rot="0" flipH="0" flipV="0">
            <a:off x="14150517" y="519466"/>
            <a:ext cx="2927240" cy="509234"/>
          </a:xfrm>
          <a:custGeom xmlns:a="http://schemas.openxmlformats.org/drawingml/2006/main">
            <a:rect l="l" t="t" r="r" b="b"/>
            <a:pathLst>
              <a:path w="3250766" h="565516">
                <a:moveTo>
                  <a:pt x="0" y="0"/>
                </a:moveTo>
                <a:lnTo>
                  <a:pt x="3250766" y="0"/>
                </a:lnTo>
                <a:lnTo>
                  <a:pt x="3250766" y="565516"/>
                </a:lnTo>
                <a:lnTo>
                  <a:pt x="0" y="565516"/>
                </a:lnTo>
                <a:close/>
              </a:path>
            </a:pathLst>
          </a:custGeom>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90C46F2E-8167-4F00-8322-211CF37322AD}"/>
              </a:ext>
            </a:extLst>
          </p:cNvPr>
          <p:cNvSpPr>
            <a:spLocks xmlns:a="http://schemas.openxmlformats.org/drawingml/2006/main" noGrp="1"/>
          </p:cNvSpPr>
          <p:nvPr/>
        </p:nvSpPr>
        <p:spPr>
          <a:xfrm xmlns:a="http://schemas.openxmlformats.org/drawingml/2006/main" rot="0" flipH="0" flipV="0">
            <a:off x="14150517" y="519466"/>
            <a:ext cx="2927240" cy="509234"/>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lgn="l">
              <a:lnSpc>
                <a:spcPts val="2430"/>
              </a:lnSpc>
              <a:buNone/>
            </a:pPr>
            <a:endParaRPr/>
          </a:p>
        </p:txBody>
      </p:sp>
      <p:sp>
        <p:nvSpPr>
          <p:cNvPr id="13" name="TextBox 13">
            <a:extLst xmlns:a="http://schemas.openxmlformats.org/drawingml/2006/main">
              <a:ext uri="{FF2B5EF4-FFF2-40B4-BE49-F238E27FC236}">
                <a16:creationId xmlns:a16="http://schemas.microsoft.com/office/drawing/2014/main" id="{C7299A7E-8CBE-4B0D-85BB-382A4CAC1132}"/>
              </a:ext>
            </a:extLst>
          </p:cNvPr>
          <p:cNvSpPr>
            <a:spLocks xmlns:a="http://schemas.openxmlformats.org/drawingml/2006/main" noGrp="1"/>
          </p:cNvSpPr>
          <p:nvPr/>
        </p:nvSpPr>
        <p:spPr>
          <a:xfrm xmlns:a="http://schemas.openxmlformats.org/drawingml/2006/main">
            <a:off x="13785691" y="571119"/>
            <a:ext cx="3473609" cy="45758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402"/>
              </a:lnSpc>
              <a:spcBef>
                <a:spcPct val="0"/>
              </a:spcBef>
              <a:buNone/>
            </a:pPr>
            <a:r>
              <a:rPr sz="3150">
                <a:solidFill>
                  <a:srgbClr val="FFFFFF"/>
                </a:solidFill>
                <a:latin typeface="Helvetica World"/>
                <a:ea typeface="Helvetica World"/>
                <a:cs typeface="Helvetica World"/>
              </a:rPr>
              <a:t>October 17, 2026</a:t>
            </a:r>
          </a:p>
        </p:txBody>
      </p:sp>
      <p:sp>
        <p:nvSpPr>
          <p:cNvPr id="14" name="TextBox 13">
            <a:extLst xmlns:a="http://schemas.openxmlformats.org/drawingml/2006/main">
              <a:ext uri="{FF2B5EF4-FFF2-40B4-BE49-F238E27FC236}">
                <a16:creationId xmlns:a16="http://schemas.microsoft.com/office/drawing/2014/main" id="{A7F5E863-0D65-4370-86AB-872A1F8C2A85}"/>
              </a:ext>
            </a:extLst>
          </p:cNvPr>
          <p:cNvSpPr>
            <a:spLocks xmlns:a="http://schemas.openxmlformats.org/drawingml/2006/main" noGrp="1"/>
          </p:cNvSpPr>
          <p:nvPr/>
        </p:nvSpPr>
        <p:spPr>
          <a:xfrm xmlns:a="http://schemas.openxmlformats.org/drawingml/2006/main">
            <a:off x="1033271" y="3931920"/>
            <a:ext cx="14173200"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6600" b="1" i="0">
                <a:solidFill>
                  <a:srgbClr val="FFFFFF"/>
                </a:solidFill>
                <a:latin typeface="Helvetica World Bold"/>
                <a:ea typeface="Helvetica World Bold"/>
                <a:cs typeface="Helvetica World Bold"/>
              </a:rPr>
              <a:t>Simple decisions for Stories</a:t>
            </a:r>
          </a:p>
        </p:txBody>
      </p:sp>
      <p:sp>
        <p:nvSpPr>
          <p:cNvPr id="15" name="TextBox 14">
            <a:extLst xmlns:a="http://schemas.openxmlformats.org/drawingml/2006/main">
              <a:ext uri="{FF2B5EF4-FFF2-40B4-BE49-F238E27FC236}">
                <a16:creationId xmlns:a16="http://schemas.microsoft.com/office/drawing/2014/main" id="{3312FDE4-68A7-4378-B0CD-0BC94A2B7A81}"/>
              </a:ext>
            </a:extLst>
          </p:cNvPr>
          <p:cNvSpPr>
            <a:spLocks xmlns:a="http://schemas.openxmlformats.org/drawingml/2006/main" noGrp="1"/>
          </p:cNvSpPr>
          <p:nvPr/>
        </p:nvSpPr>
        <p:spPr>
          <a:xfrm xmlns:a="http://schemas.openxmlformats.org/drawingml/2006/main">
            <a:off x="1033271" y="6263640"/>
            <a:ext cx="128016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3000" b="0" i="0">
                <a:solidFill>
                  <a:srgbClr val="FFFFFF"/>
                </a:solidFill>
                <a:latin typeface="Helvetica World"/>
                <a:ea typeface="Helvetica World"/>
                <a:cs typeface="Helvetica World"/>
              </a:rPr>
              <a:t>Hours, stock, waste, prices and offers, explained simply</a:t>
            </a:r>
          </a:p>
        </p:txBody>
      </p:sp>
      <p:sp>
        <p:nvSpPr>
          <p:cNvPr id="16" name="TextBox 15">
            <a:extLst xmlns:a="http://schemas.openxmlformats.org/drawingml/2006/main">
              <a:ext uri="{FF2B5EF4-FFF2-40B4-BE49-F238E27FC236}">
                <a16:creationId xmlns:a16="http://schemas.microsoft.com/office/drawing/2014/main" id="{316581A9-3F57-4CDD-80AD-3EF500A60898}"/>
              </a:ext>
            </a:extLst>
          </p:cNvPr>
          <p:cNvSpPr>
            <a:spLocks xmlns:a="http://schemas.openxmlformats.org/drawingml/2006/main" noGrp="1"/>
          </p:cNvSpPr>
          <p:nvPr/>
        </p:nvSpPr>
        <p:spPr>
          <a:xfrm xmlns:a="http://schemas.openxmlformats.org/drawingml/2006/main">
            <a:off x="1033271" y="854964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2200" b="0" i="0">
                <a:solidFill>
                  <a:srgbClr val="FFFFFF"/>
                </a:solidFill>
                <a:latin typeface="Helvetica World"/>
                <a:ea typeface="Helvetica World"/>
                <a:cs typeface="Helvetica World"/>
              </a:rPr>
              <a:t>EECE 490 · Stories Coffee Hackathon</a:t>
            </a:r>
          </a:p>
        </p:txBody>
      </p:sp>
    </p:spTree>
    <p:extLst>
      <p:ext uri="{BB962C8B-B14F-4D97-AF65-F5344CB8AC3E}">
        <p14:creationId xmlns:p14="http://schemas.microsoft.com/office/powerpoint/2010/main" val="122858031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7a7efd892e9540e0"/>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Opening hours: test a later start</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Keep the busy evening hours</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1</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Uptown’s 7 AM hour earns just $4.37 after product costs. Open later only if the staff and energy savings cover lost sales.</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$4.37</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Uptown’s 7 AM gross profit per calendar day</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4,273</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9 PM baskets across all branches, Jan–Jun</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Check removable staff hours. Test Uptown at 9 AM and Garden at 8 AM.</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Restore hours if full-day earnings after operating costs fall.</a:t>
            </a:r>
          </a:p>
        </p:txBody>
      </p:sp>
    </p:spTree>
    <p:extLst>
      <p:ext uri="{BB962C8B-B14F-4D97-AF65-F5344CB8AC3E}">
        <p14:creationId xmlns:p14="http://schemas.microsoft.com/office/powerpoint/2010/main" val="6631943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a76483168a8d4294"/>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Branch closing: check the full bill</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Fewer sales alone do not justify closing a branch</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2</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Uptown is the smallest branch, but still earns money before rent and wages. Check costs we can actually remove before closing it.</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$193</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Uptown’s daily gross profit, before rent and wages</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Unknown</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Rent, payroll savings and exit costs are missing</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Compare avoidable bills plus profit from customers moving to other branches.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Keep the branch if savings do not cover lost profit and exit costs.</a:t>
            </a:r>
          </a:p>
        </p:txBody>
      </p:sp>
    </p:spTree>
    <p:extLst>
      <p:ext uri="{BB962C8B-B14F-4D97-AF65-F5344CB8AC3E}">
        <p14:creationId xmlns:p14="http://schemas.microsoft.com/office/powerpoint/2010/main" val="66319438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856fe3a6b010429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Restocking: buy for the next delivery</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Start with Iced Latte, Iced Matcha and Butter Croissant</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3</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These are the three best-selling products by units. Plan each branch separately. Buy enough until the next delivery, plus a small buffer.</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20/day</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Example only: expected sales of one item</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35 units</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2 days × 20 + 5 buffer − 10 usable in stock</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Use recent same-weekday sales. Subtract usable stock and confirmed deliveries.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Reduce the buffer if leftovers rise. Increase it if true stockouts recur.</a:t>
            </a:r>
          </a:p>
        </p:txBody>
      </p:sp>
    </p:spTree>
    <p:extLst>
      <p:ext uri="{BB962C8B-B14F-4D97-AF65-F5344CB8AC3E}">
        <p14:creationId xmlns:p14="http://schemas.microsoft.com/office/powerpoint/2010/main" val="66319438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6807053f67c34536"/>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Waste: make smaller batches first</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Discount only safe food that is likely to be left over</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4</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Log what gets thrown away and why. Prepare pastries in smaller batches. Mark down surplus close to its safe selling deadline.</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 left</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Example only: five pastries would otherwise be discarded</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$15.30</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Five genuinely extra sales at $3.06 each</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Test a 20% markdown on surplus Harbour Butter Croissants, normally $3.83.</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End the offer if lost full-price sales and handling cost exceed money recovered.</a:t>
            </a:r>
          </a:p>
        </p:txBody>
      </p:sp>
    </p:spTree>
    <p:extLst>
      <p:ext uri="{BB962C8B-B14F-4D97-AF65-F5344CB8AC3E}">
        <p14:creationId xmlns:p14="http://schemas.microsoft.com/office/powerpoint/2010/main" val="66319438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2756b55b21114ee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Price increase: try a small step</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Check supplier invoices, then test one item</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5</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A small price rise can help if customers keep buying. Start with Iced Latte at one branch and watch the whole basket, not just that drink.</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$5.62</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Current Harbour Iced Latte list price</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$5.90</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Example test price, about 5% higher</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Test against comparable unchanged periods. Track visitors, baskets and complaints.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Roll back if earnings after costs fall or customers shift away.</a:t>
            </a:r>
          </a:p>
        </p:txBody>
      </p:sp>
    </p:spTree>
    <p:extLst>
      <p:ext uri="{BB962C8B-B14F-4D97-AF65-F5344CB8AC3E}">
        <p14:creationId xmlns:p14="http://schemas.microsoft.com/office/powerpoint/2010/main" val="66319438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3b913d04d5d04102"/>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Price decrease: earn back the cut</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A lower price must bring enough extra purchases</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6</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A 10% croissant price cut leaves less money per sale. It pays only if extra sales cover the discount and any extra work or waste.</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$2.69</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Harbour Butter Croissant gross profit at $3.83</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+17%</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Approximate extra units needed at $3.45 to break even</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Test a temporary cut on one item and compare total basket earnings.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Keep the normal price if extra profit does not cover the price cut.</a:t>
            </a:r>
          </a:p>
        </p:txBody>
      </p:sp>
    </p:spTree>
    <p:extLst>
      <p:ext uri="{BB962C8B-B14F-4D97-AF65-F5344CB8AC3E}">
        <p14:creationId xmlns:p14="http://schemas.microsoft.com/office/powerpoint/2010/main" val="6631943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eb78217c453a46f1"/>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Combo offers: start with coffee + bakery</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Two specific pairings to test</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7</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Try Iced Latte + Butter Croissant first. A second candidate is Iced Matcha + Chocolate Cookie. Suggest the pairing at full price before cutting it.</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$9.45</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Harbour Latte + Butter Croissant at list prices</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$8.51</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Illustrative 10% combo price, if a rebate is needed</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Choose available items with positive margin and quick preparation.</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Drop a pair if it replaces better sales, increases waste or slows service.</a:t>
            </a:r>
          </a:p>
        </p:txBody>
      </p:sp>
    </p:spTree>
    <p:extLst>
      <p:ext uri="{BB962C8B-B14F-4D97-AF65-F5344CB8AC3E}">
        <p14:creationId xmlns:p14="http://schemas.microsoft.com/office/powerpoint/2010/main" val="6631943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4ae8f9e1d436489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How to know which combo pays</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Count new add-ons and discounts on pairs already selling</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8</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Check baskets for a drink without a pastry. Test the offer against no offer. Extra add-on profit must pay for rebates on existing pairs.</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+$1.75</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Extra gross profit when a Latte-only buyer adds the $8.51 combo</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54 new</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Add-ons needed per 100 existing pairs, before extra costs</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Rank pairs by extra earnings after rebates, waste and service costs.</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Reject an offer if total earnings are lower, even when basket size rises.</a:t>
            </a:r>
          </a:p>
        </p:txBody>
      </p:sp>
    </p:spTree>
    <p:extLst>
      <p:ext uri="{BB962C8B-B14F-4D97-AF65-F5344CB8AC3E}">
        <p14:creationId xmlns:p14="http://schemas.microsoft.com/office/powerpoint/2010/main" val="6631943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ceec8568b5fc44d9"/>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Discounts: test them in quiet hours</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A busy shop can lose money by discounting existing demand</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9</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At Harbour, compare no offer with 10% and 15% morning offers. Count everyone offered the deal, including people who buy nothing.</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3 groups</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No discount, 10% off and 15% off</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More kept</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Choose the offer that leaves more money after costs</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Assign offers before purchase in comparable morning periods. Cap the budget.</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Pause if earnings per visitor fall or the offer shifts existing sales.</a:t>
            </a:r>
          </a:p>
        </p:txBody>
      </p:sp>
    </p:spTree>
    <p:extLst>
      <p:ext uri="{BB962C8B-B14F-4D97-AF65-F5344CB8AC3E}">
        <p14:creationId xmlns:p14="http://schemas.microsoft.com/office/powerpoint/2010/main" val="6631943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F773CB49-D708-49C6-B4A7-A24EB35C6365}"/>
              </a:ext>
            </a:extLst>
          </p:cNvPr>
          <p:cNvSpPr>
            <a:spLocks xmlns:a="http://schemas.openxmlformats.org/drawingml/2006/main" noGrp="1"/>
          </p:cNvSpPr>
          <p:nvPr/>
        </p:nvSpPr>
        <p:spPr>
          <a:xfrm xmlns:a="http://schemas.openxmlformats.org/drawingml/2006/main" rot="0" flipH="0" flipV="0">
            <a:off x="155573" y="1707558"/>
            <a:ext cx="17976817" cy="8404288"/>
          </a:xfrm>
          <a:custGeom xmlns:a="http://schemas.openxmlformats.org/drawingml/2006/main">
            <a:rect l="l" t="t" r="r" b="b"/>
            <a:pathLst>
              <a:path w="23969090" h="11205718">
                <a:moveTo>
                  <a:pt x="0" y="0"/>
                </a:moveTo>
                <a:lnTo>
                  <a:pt x="23969090" y="0"/>
                </a:lnTo>
                <a:lnTo>
                  <a:pt x="23969090" y="11205718"/>
                </a:lnTo>
                <a:lnTo>
                  <a:pt x="0" y="11205718"/>
                </a:lnTo>
                <a:close/>
              </a:path>
            </a:pathLst>
          </a:custGeom>
          <a:solidFill xmlns:a="http://schemas.openxmlformats.org/drawingml/2006/main">
            <a:srgbClr val="000000">
              <a:alpha val="0"/>
            </a:srgbClr>
          </a:solidFill>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070B9765-DA59-4FC2-847E-44FDCD6D7D8E}"/>
              </a:ext>
            </a:extLst>
          </p:cNvPr>
          <p:cNvSpPr>
            <a:spLocks xmlns:a="http://schemas.openxmlformats.org/drawingml/2006/main" noGrp="1"/>
          </p:cNvSpPr>
          <p:nvPr/>
        </p:nvSpPr>
        <p:spPr>
          <a:xfrm xmlns:a="http://schemas.openxmlformats.org/drawingml/2006/main">
            <a:off x="14043000" y="968031"/>
            <a:ext cx="2955635" cy="12336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1080"/>
              </a:lnSpc>
              <a:buNone/>
            </a:pPr>
            <a:r>
              <a:rPr sz="900" b="1">
                <a:solidFill>
                  <a:srgbClr val="929292"/>
                </a:solidFill>
                <a:latin typeface="Helvetica World Bold"/>
                <a:ea typeface="Helvetica World Bold"/>
                <a:cs typeface="Helvetica World Bold"/>
              </a:rPr>
              <a:t>ⓒ</a:t>
            </a:r>
            <a:r>
              <a:rPr sz="900">
                <a:solidFill>
                  <a:srgbClr val="929292"/>
                </a:solidFill>
                <a:latin typeface="Helvetica World"/>
                <a:ea typeface="Helvetica World"/>
                <a:cs typeface="Helvetica World"/>
              </a:rPr>
              <a:t> All rights reserved. American University of Beirut 2026.</a:t>
            </a:r>
          </a:p>
        </p:txBody>
      </p:sp>
      <p:sp>
        <p:nvSpPr>
          <p:cNvPr id="6" name="Freeform 6">
            <a:extLst xmlns:a="http://schemas.openxmlformats.org/drawingml/2006/main">
              <a:ext uri="{FF2B5EF4-FFF2-40B4-BE49-F238E27FC236}">
                <a16:creationId xmlns:a16="http://schemas.microsoft.com/office/drawing/2014/main" id="{57F0918C-C0C8-4FB4-B9F6-4BA0FEA0CD43}"/>
              </a:ext>
            </a:extLst>
          </p:cNvPr>
          <p:cNvSpPr>
            <a:spLocks xmlns:a="http://schemas.openxmlformats.org/drawingml/2006/main" noGrp="1"/>
          </p:cNvSpPr>
          <p:nvPr/>
        </p:nvSpPr>
        <p:spPr>
          <a:xfrm xmlns:a="http://schemas.openxmlformats.org/drawingml/2006/main" rot="0" flipH="0" flipV="0">
            <a:off x="11969892" y="841018"/>
            <a:ext cx="5065013" cy="19050"/>
          </a:xfrm>
          <a:custGeom xmlns:a="http://schemas.openxmlformats.org/drawingml/2006/main">
            <a:rect l="l" t="t" r="r" b="b"/>
            <a:pathLst>
              <a:path w="6753352" h="25400">
                <a:moveTo>
                  <a:pt x="0" y="0"/>
                </a:moveTo>
                <a:lnTo>
                  <a:pt x="6753352" y="0"/>
                </a:lnTo>
                <a:lnTo>
                  <a:pt x="6753352" y="25400"/>
                </a:lnTo>
                <a:lnTo>
                  <a:pt x="0" y="25400"/>
                </a:lnTo>
                <a:close/>
              </a:path>
            </a:pathLst>
          </a:custGeom>
          <a:solidFill xmlns:a="http://schemas.openxmlformats.org/drawingml/2006/main">
            <a:srgbClr val="666666"/>
          </a:solidFill>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89BFC375-CF3D-4EE7-A933-E21B32BED60B}"/>
              </a:ext>
            </a:extLst>
          </p:cNvPr>
          <p:cNvSpPr>
            <a:spLocks xmlns:a="http://schemas.openxmlformats.org/drawingml/2006/main" noGrp="1"/>
          </p:cNvSpPr>
          <p:nvPr/>
        </p:nvSpPr>
        <p:spPr>
          <a:xfrm xmlns:a="http://schemas.openxmlformats.org/drawingml/2006/main" rot="0" flipH="0" flipV="0">
            <a:off x="17195515" y="501549"/>
            <a:ext cx="678560" cy="678560"/>
          </a:xfrm>
          <a:custGeom xmlns:a="http://schemas.openxmlformats.org/drawingml/2006/main">
            <a:rect l="l" t="t" r="r" b="b"/>
            <a:pathLst>
              <a:path w="904748" h="904748">
                <a:moveTo>
                  <a:pt x="0" y="0"/>
                </a:moveTo>
                <a:lnTo>
                  <a:pt x="904748" y="0"/>
                </a:lnTo>
                <a:lnTo>
                  <a:pt x="904748" y="904748"/>
                </a:lnTo>
                <a:lnTo>
                  <a:pt x="0" y="904748"/>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176CF5F2-B17D-4B9D-9ABE-B907BC42FBC3}"/>
              </a:ext>
            </a:extLst>
          </p:cNvPr>
          <p:cNvSpPr>
            <a:spLocks xmlns:a="http://schemas.openxmlformats.org/drawingml/2006/main" noGrp="1"/>
          </p:cNvSpPr>
          <p:nvPr/>
        </p:nvSpPr>
        <p:spPr>
          <a:xfrm xmlns:a="http://schemas.openxmlformats.org/drawingml/2006/main" rot="0" flipH="0" flipV="0">
            <a:off x="413970" y="392261"/>
            <a:ext cx="3940588" cy="920686"/>
          </a:xfrm>
          <a:custGeom xmlns:a="http://schemas.openxmlformats.org/drawingml/2006/main">
            <a:rect l="l" t="t" r="r" b="b"/>
            <a:pathLst>
              <a:path w="5254117" h="1227582">
                <a:moveTo>
                  <a:pt x="0" y="0"/>
                </a:moveTo>
                <a:lnTo>
                  <a:pt x="5254117" y="0"/>
                </a:lnTo>
                <a:lnTo>
                  <a:pt x="5254117" y="1227582"/>
                </a:lnTo>
                <a:lnTo>
                  <a:pt x="0" y="1227582"/>
                </a:lnTo>
                <a:lnTo>
                  <a:pt x="0" y="0"/>
                </a:lnTo>
                <a:close/>
              </a:path>
            </a:pathLst>
          </a:custGeom>
          <a:blipFill xmlns:a="http://schemas.openxmlformats.org/drawingml/2006/main">
            <a:blip xmlns:r="http://schemas.openxmlformats.org/officeDocument/2006/relationships" r:embed="Rf4f325339e5f48de"/>
            <a:stretch>
              <a:fillRect l="-55" t="0" r="-55" b="0"/>
            </a:stretch>
          </a:blipFill>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25622CAB-EA13-450C-B6CF-6EF1847D9268}"/>
              </a:ext>
            </a:extLst>
          </p:cNvPr>
          <p:cNvSpPr>
            <a:spLocks xmlns:a="http://schemas.openxmlformats.org/drawingml/2006/main" noGrp="1"/>
          </p:cNvSpPr>
          <p:nvPr/>
        </p:nvSpPr>
        <p:spPr>
          <a:xfrm xmlns:a="http://schemas.openxmlformats.org/drawingml/2006/main">
            <a:off x="3848017" y="2485790"/>
            <a:ext cx="10591967" cy="565785"/>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4455"/>
              </a:lnSpc>
              <a:buNone/>
            </a:pPr>
            <a:r>
              <a:rPr sz="4125" b="1">
                <a:solidFill>
                  <a:srgbClr val="840032"/>
                </a:solidFill>
                <a:latin typeface="Helvetica World Bold"/>
                <a:ea typeface="Helvetica World Bold"/>
                <a:cs typeface="Helvetica World Bold"/>
              </a:rPr>
              <a:t>Start small and keep what pays</a:t>
            </a:r>
          </a:p>
        </p:txBody>
      </p:sp>
      <p:sp>
        <p:nvSpPr>
          <p:cNvPr id="12" name="TextBox 12">
            <a:extLst xmlns:a="http://schemas.openxmlformats.org/drawingml/2006/main">
              <a:ext uri="{FF2B5EF4-FFF2-40B4-BE49-F238E27FC236}">
                <a16:creationId xmlns:a16="http://schemas.microsoft.com/office/drawing/2014/main" id="{C9402623-11A5-402B-98D4-F4CFB7D773E2}"/>
              </a:ext>
            </a:extLst>
          </p:cNvPr>
          <p:cNvSpPr>
            <a:spLocks xmlns:a="http://schemas.openxmlformats.org/drawingml/2006/main" noGrp="1"/>
          </p:cNvSpPr>
          <p:nvPr/>
        </p:nvSpPr>
        <p:spPr>
          <a:xfrm xmlns:a="http://schemas.openxmlformats.org/drawingml/2006/main">
            <a:off x="12015930" y="554473"/>
            <a:ext cx="4972908" cy="25032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2070"/>
              </a:lnSpc>
              <a:buNone/>
            </a:pPr>
            <a:r>
              <a:rPr sz="1725">
                <a:solidFill>
                  <a:srgbClr val="000000"/>
                </a:solidFill>
                <a:latin typeface="Helvetica World"/>
                <a:ea typeface="Helvetica World"/>
                <a:cs typeface="Helvetica World"/>
              </a:rPr>
              <a:t>EECE 490 · Stories Coffee Hackathon</a:t>
            </a:r>
          </a:p>
        </p:txBody>
      </p:sp>
      <p:sp>
        <p:nvSpPr>
          <p:cNvPr id="13" name="TextBox 12">
            <a:extLst xmlns:a="http://schemas.openxmlformats.org/drawingml/2006/main">
              <a:ext uri="{FF2B5EF4-FFF2-40B4-BE49-F238E27FC236}">
                <a16:creationId xmlns:a16="http://schemas.microsoft.com/office/drawing/2014/main" id="{789537D2-F7BB-4909-87A1-641A46CE7E39}"/>
              </a:ext>
            </a:extLst>
          </p:cNvPr>
          <p:cNvSpPr>
            <a:spLocks xmlns:a="http://schemas.openxmlformats.org/drawingml/2006/main" noGrp="1"/>
          </p:cNvSpPr>
          <p:nvPr/>
        </p:nvSpPr>
        <p:spPr>
          <a:xfrm xmlns:a="http://schemas.openxmlformats.org/drawingml/2006/main">
            <a:off x="1371600" y="3035808"/>
            <a:ext cx="15544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2000"/>
              </a:lnSpc>
              <a:buNone/>
            </a:pPr>
            <a:r>
              <a:rPr sz="2200" b="0" i="0">
                <a:solidFill>
                  <a:srgbClr val="333333"/>
                </a:solidFill>
                <a:latin typeface="Helvetica World"/>
                <a:ea typeface="Helvetica World"/>
                <a:cs typeface="Helvetica World"/>
              </a:rPr>
              <a:t>One change at a time, with a clear comparison</a:t>
            </a:r>
          </a:p>
        </p:txBody>
      </p:sp>
      <p:sp>
        <p:nvSpPr>
          <p:cNvPr id="14" name="Rounded Rectangle 13">
            <a:extLst xmlns:a="http://schemas.openxmlformats.org/drawingml/2006/main">
              <a:ext uri="{FF2B5EF4-FFF2-40B4-BE49-F238E27FC236}">
                <a16:creationId xmlns:a16="http://schemas.microsoft.com/office/drawing/2014/main" id="{A8CB6882-E977-4E23-A488-96A859297F94}"/>
              </a:ext>
            </a:extLst>
          </p:cNvPr>
          <p:cNvSpPr>
            <a:spLocks xmlns:a="http://schemas.openxmlformats.org/drawingml/2006/main" noGrp="1"/>
          </p:cNvSpPr>
          <p:nvPr/>
        </p:nvSpPr>
        <p:spPr>
          <a:xfrm xmlns:a="http://schemas.openxmlformats.org/drawingml/2006/main">
            <a:off x="685800" y="3931920"/>
            <a:ext cx="7863840" cy="3337560"/>
          </a:xfrm>
          <a:prstGeom xmlns:a="http://schemas.openxmlformats.org/drawingml/2006/main" prst="roundRect">
            <a:avLst>
              <a:gd name="adj" fmla="val 6000"/>
            </a:avLst>
          </a:prstGeom>
          <a:solidFill xmlns:a="http://schemas.openxmlformats.org/drawingml/2006/main">
            <a:srgbClr val="F7EEF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A16C924D-5D13-4C2C-A3B5-C752C64ADBB1}"/>
              </a:ext>
            </a:extLst>
          </p:cNvPr>
          <p:cNvSpPr>
            <a:spLocks xmlns:a="http://schemas.openxmlformats.org/drawingml/2006/main" noGrp="1"/>
          </p:cNvSpPr>
          <p:nvPr/>
        </p:nvSpPr>
        <p:spPr>
          <a:xfrm xmlns:a="http://schemas.openxmlformats.org/drawingml/2006/main">
            <a:off x="1051560" y="4251960"/>
            <a:ext cx="731520" cy="731520"/>
          </a:xfrm>
          <a:prstGeom xmlns:a="http://schemas.openxmlformats.org/drawingml/2006/main" prst="ellipse">
            <a:avLst/>
          </a:prstGeom>
          <a:solidFill xmlns:a="http://schemas.openxmlformats.org/drawingml/2006/main">
            <a:srgbClr val="840032"/>
          </a:solidFill>
          <a:ln xmlns:a="http://schemas.openxmlformats.org/drawingml/2006/main">
            <a:noFill/>
          </a:ln>
        </p:spPr>
        <p:txBody>
          <a:bodyPr xmlns:a="http://schemas.openxmlformats.org/drawingml/2006/main" lIns="0" tIns="0" rIns="0" bIns="0" anchor="ctr"/>
          <a:lstStyle xmlns:a="http://schemas.openxmlformats.org/drawingml/2006/main"/>
          <a:p xmlns:a="http://schemas.openxmlformats.org/drawingml/2006/main">
            <a:pPr algn="ctr">
              <a:buNone/>
            </a:pPr>
            <a:r>
              <a:rPr sz="2600" b="1" i="0">
                <a:solidFill>
                  <a:srgbClr val="FFFFFF"/>
                </a:solidFill>
                <a:latin typeface="Helvetica World Bold"/>
                <a:ea typeface="Helvetica World Bold"/>
                <a:cs typeface="Helvetica World Bold"/>
              </a:rPr>
              <a:t>10</a:t>
            </a:r>
          </a:p>
        </p:txBody>
      </p:sp>
      <p:sp>
        <p:nvSpPr>
          <p:cNvPr id="16" name="TextBox 15">
            <a:extLst xmlns:a="http://schemas.openxmlformats.org/drawingml/2006/main">
              <a:ext uri="{FF2B5EF4-FFF2-40B4-BE49-F238E27FC236}">
                <a16:creationId xmlns:a16="http://schemas.microsoft.com/office/drawing/2014/main" id="{5EBACAB8-0D0D-4B90-ABF6-32D013A5F888}"/>
              </a:ext>
            </a:extLst>
          </p:cNvPr>
          <p:cNvSpPr>
            <a:spLocks xmlns:a="http://schemas.openxmlformats.org/drawingml/2006/main" noGrp="1"/>
          </p:cNvSpPr>
          <p:nvPr/>
        </p:nvSpPr>
        <p:spPr>
          <a:xfrm xmlns:a="http://schemas.openxmlformats.org/drawingml/2006/main">
            <a:off x="2011680" y="4315968"/>
            <a:ext cx="6126479"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2000"/>
              </a:lnSpc>
              <a:buNone/>
            </a:pPr>
            <a:r>
              <a:rPr sz="2200" b="1" i="0">
                <a:solidFill>
                  <a:srgbClr val="840032"/>
                </a:solidFill>
                <a:latin typeface="Helvetica World Bold"/>
                <a:ea typeface="Helvetica World Bold"/>
                <a:cs typeface="Helvetica World Bold"/>
              </a:rPr>
              <a:t>In plain words</a:t>
            </a:r>
          </a:p>
        </p:txBody>
      </p:sp>
      <p:sp>
        <p:nvSpPr>
          <p:cNvPr id="17" name="TextBox 16">
            <a:extLst xmlns:a="http://schemas.openxmlformats.org/drawingml/2006/main">
              <a:ext uri="{FF2B5EF4-FFF2-40B4-BE49-F238E27FC236}">
                <a16:creationId xmlns:a16="http://schemas.microsoft.com/office/drawing/2014/main" id="{51A58ACC-E3CB-4D1F-BD0A-1B219317D9F7}"/>
              </a:ext>
            </a:extLst>
          </p:cNvPr>
          <p:cNvSpPr>
            <a:spLocks xmlns:a="http://schemas.openxmlformats.org/drawingml/2006/main" noGrp="1"/>
          </p:cNvSpPr>
          <p:nvPr/>
        </p:nvSpPr>
        <p:spPr>
          <a:xfrm xmlns:a="http://schemas.openxmlformats.org/drawingml/2006/main">
            <a:off x="1051560" y="5212080"/>
            <a:ext cx="713232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500" b="0" i="0">
                <a:solidFill>
                  <a:srgbClr val="1A1A1A"/>
                </a:solidFill>
                <a:latin typeface="Helvetica World"/>
                <a:ea typeface="Helvetica World"/>
                <a:cs typeface="Helvetica World"/>
              </a:rPr>
              <a:t>First record stock, waste, staff hours and real costs. Then test one change in one branch. Expand only when more money stays in the business.</a:t>
            </a:r>
          </a:p>
        </p:txBody>
      </p:sp>
      <p:sp>
        <p:nvSpPr>
          <p:cNvPr id="18" name="TextBox 17">
            <a:extLst xmlns:a="http://schemas.openxmlformats.org/drawingml/2006/main">
              <a:ext uri="{FF2B5EF4-FFF2-40B4-BE49-F238E27FC236}">
                <a16:creationId xmlns:a16="http://schemas.microsoft.com/office/drawing/2014/main" id="{01D16093-80F9-4719-8F96-A96FECB1E033}"/>
              </a:ext>
            </a:extLst>
          </p:cNvPr>
          <p:cNvSpPr>
            <a:spLocks xmlns:a="http://schemas.openxmlformats.org/drawingml/2006/main" noGrp="1"/>
          </p:cNvSpPr>
          <p:nvPr/>
        </p:nvSpPr>
        <p:spPr>
          <a:xfrm xmlns:a="http://schemas.openxmlformats.org/drawingml/2006/main">
            <a:off x="914400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Measure</a:t>
            </a:r>
          </a:p>
        </p:txBody>
      </p:sp>
      <p:sp>
        <p:nvSpPr>
          <p:cNvPr id="19" name="TextBox 18">
            <a:extLst xmlns:a="http://schemas.openxmlformats.org/drawingml/2006/main">
              <a:ext uri="{FF2B5EF4-FFF2-40B4-BE49-F238E27FC236}">
                <a16:creationId xmlns:a16="http://schemas.microsoft.com/office/drawing/2014/main" id="{30DFA5EB-9919-4C6F-985B-AB632B9AC11B}"/>
              </a:ext>
            </a:extLst>
          </p:cNvPr>
          <p:cNvSpPr>
            <a:spLocks xmlns:a="http://schemas.openxmlformats.org/drawingml/2006/main" noGrp="1"/>
          </p:cNvSpPr>
          <p:nvPr/>
        </p:nvSpPr>
        <p:spPr>
          <a:xfrm xmlns:a="http://schemas.openxmlformats.org/drawingml/2006/main">
            <a:off x="914400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Sales minus product, staff, energy, waste and offer costs</a:t>
            </a:r>
          </a:p>
        </p:txBody>
      </p:sp>
      <p:sp>
        <p:nvSpPr>
          <p:cNvPr id="20" name="TextBox 19">
            <a:extLst xmlns:a="http://schemas.openxmlformats.org/drawingml/2006/main">
              <a:ext uri="{FF2B5EF4-FFF2-40B4-BE49-F238E27FC236}">
                <a16:creationId xmlns:a16="http://schemas.microsoft.com/office/drawing/2014/main" id="{3DDE4E0D-B10F-43EA-96EF-5B6EBA0EE6FD}"/>
              </a:ext>
            </a:extLst>
          </p:cNvPr>
          <p:cNvSpPr>
            <a:spLocks xmlns:a="http://schemas.openxmlformats.org/drawingml/2006/main" noGrp="1"/>
          </p:cNvSpPr>
          <p:nvPr/>
        </p:nvSpPr>
        <p:spPr>
          <a:xfrm xmlns:a="http://schemas.openxmlformats.org/drawingml/2006/main">
            <a:off x="13578840" y="3977639"/>
            <a:ext cx="4023360" cy="1325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pPr>
            <a:r>
              <a:rPr sz="6600" b="1" i="0">
                <a:solidFill>
                  <a:srgbClr val="840032"/>
                </a:solidFill>
                <a:latin typeface="Helvetica World Bold"/>
                <a:ea typeface="Helvetica World Bold"/>
                <a:cs typeface="Helvetica World Bold"/>
              </a:rPr>
              <a:t>Compare</a:t>
            </a:r>
          </a:p>
        </p:txBody>
      </p:sp>
      <p:sp>
        <p:nvSpPr>
          <p:cNvPr id="21" name="TextBox 20">
            <a:extLst xmlns:a="http://schemas.openxmlformats.org/drawingml/2006/main">
              <a:ext uri="{FF2B5EF4-FFF2-40B4-BE49-F238E27FC236}">
                <a16:creationId xmlns:a16="http://schemas.microsoft.com/office/drawing/2014/main" id="{C8011CA4-0F76-4F22-BE4E-40AD9E3A9098}"/>
              </a:ext>
            </a:extLst>
          </p:cNvPr>
          <p:cNvSpPr>
            <a:spLocks xmlns:a="http://schemas.openxmlformats.org/drawingml/2006/main" noGrp="1"/>
          </p:cNvSpPr>
          <p:nvPr/>
        </p:nvSpPr>
        <p:spPr>
          <a:xfrm xmlns:a="http://schemas.openxmlformats.org/drawingml/2006/main">
            <a:off x="13578840" y="5394960"/>
            <a:ext cx="384048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pPr>
            <a:r>
              <a:rPr sz="2000" b="0" i="0">
                <a:solidFill>
                  <a:srgbClr val="333333"/>
                </a:solidFill>
                <a:latin typeface="Helvetica World"/>
                <a:ea typeface="Helvetica World"/>
                <a:cs typeface="Helvetica World"/>
              </a:rPr>
              <a:t>Similar days with and without the change</a:t>
            </a:r>
          </a:p>
        </p:txBody>
      </p:sp>
      <p:sp>
        <p:nvSpPr>
          <p:cNvPr id="22" name="Rounded Rectangle 21">
            <a:extLst xmlns:a="http://schemas.openxmlformats.org/drawingml/2006/main">
              <a:ext uri="{FF2B5EF4-FFF2-40B4-BE49-F238E27FC236}">
                <a16:creationId xmlns:a16="http://schemas.microsoft.com/office/drawing/2014/main" id="{DD1F6D25-C6F4-4336-A1F2-FF45F0A18B0C}"/>
              </a:ext>
            </a:extLst>
          </p:cNvPr>
          <p:cNvSpPr>
            <a:spLocks xmlns:a="http://schemas.openxmlformats.org/drawingml/2006/main" noGrp="1"/>
          </p:cNvSpPr>
          <p:nvPr/>
        </p:nvSpPr>
        <p:spPr>
          <a:xfrm xmlns:a="http://schemas.openxmlformats.org/drawingml/2006/main">
            <a:off x="685800" y="7589520"/>
            <a:ext cx="16916400" cy="1691640"/>
          </a:xfrm>
          <a:prstGeom xmlns:a="http://schemas.openxmlformats.org/drawingml/2006/main" prst="roundRect">
            <a:avLst>
              <a:gd name="adj" fmla="val 8000"/>
            </a:avLst>
          </a:prstGeom>
          <a:solidFill xmlns:a="http://schemas.openxmlformats.org/drawingml/2006/main">
            <a:srgbClr val="840032"/>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3F4881-50EA-4D03-B6C0-E7BF11FAA554}"/>
              </a:ext>
            </a:extLst>
          </p:cNvPr>
          <p:cNvSpPr>
            <a:spLocks xmlns:a="http://schemas.openxmlformats.org/drawingml/2006/main" noGrp="1"/>
          </p:cNvSpPr>
          <p:nvPr/>
        </p:nvSpPr>
        <p:spPr>
          <a:xfrm xmlns:a="http://schemas.openxmlformats.org/drawingml/2006/main">
            <a:off x="1097280" y="7754112"/>
            <a:ext cx="160934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Try this  Start with stock and waste logs. Then test hours, one price or one offer.</a:t>
            </a:r>
          </a:p>
          <a:p xmlns:a="http://schemas.openxmlformats.org/drawingml/2006/main">
            <a:pPr algn="l">
              <a:lnSpc>
                <a:spcPct val="108000"/>
              </a:lnSpc>
              <a:buNone/>
            </a:pPr>
            <a:r>
              <a:rPr sz="2200" b="1" i="0">
                <a:solidFill>
                  <a:srgbClr val="FFFFFF"/>
                </a:solidFill>
                <a:latin typeface="Helvetica World Bold"/>
                <a:ea typeface="Helvetica World Bold"/>
                <a:cs typeface="Helvetica World Bold"/>
              </a:rPr>
              <a:t>Check  Pause for lower earnings, longer waits or worse customer experience.</a:t>
            </a:r>
          </a:p>
        </p:txBody>
      </p:sp>
    </p:spTree>
    <p:extLst>
      <p:ext uri="{BB962C8B-B14F-4D97-AF65-F5344CB8AC3E}">
        <p14:creationId xmlns:p14="http://schemas.microsoft.com/office/powerpoint/2010/main" val="663194387"/>
      </p:ext>
    </p:extLst>
  </p:cSld>
</p:sld>
</file>

<file path=ppt/slides/slide12.xml><?xml version="1.0" encoding="utf-8"?>
<p:sld xmlns:p="http://schemas.openxmlformats.org/presentationml/2006/main">
  <p:cSld>
    <p:bg>
      <p:bgPr>
        <a:solidFill xmlns:a="http://schemas.openxmlformats.org/drawingml/2006/main">
          <a:srgbClr val="840032"/>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A72D29EB-88DC-4A71-A8D2-31B3531D3541}"/>
              </a:ext>
            </a:extLst>
          </p:cNvPr>
          <p:cNvSpPr>
            <a:spLocks xmlns:a="http://schemas.openxmlformats.org/drawingml/2006/main" noGrp="1"/>
          </p:cNvSpPr>
          <p:nvPr/>
        </p:nvSpPr>
        <p:spPr>
          <a:xfrm xmlns:a="http://schemas.openxmlformats.org/drawingml/2006/main" rot="0" flipH="0" flipV="0">
            <a:off x="8666018" y="8791035"/>
            <a:ext cx="955929" cy="955929"/>
          </a:xfrm>
          <a:custGeom xmlns:a="http://schemas.openxmlformats.org/drawingml/2006/main">
            <a:rect l="l" t="t" r="r" b="b"/>
            <a:pathLst>
              <a:path w="1274572" h="1274572">
                <a:moveTo>
                  <a:pt x="0" y="0"/>
                </a:moveTo>
                <a:lnTo>
                  <a:pt x="1274572" y="0"/>
                </a:lnTo>
                <a:lnTo>
                  <a:pt x="1274572" y="1274572"/>
                </a:lnTo>
                <a:lnTo>
                  <a:pt x="0" y="1274572"/>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
        <p:nvSpPr>
          <p:cNvPr id="5" name="Freeform 5">
            <a:extLst xmlns:a="http://schemas.openxmlformats.org/drawingml/2006/main">
              <a:ext uri="{FF2B5EF4-FFF2-40B4-BE49-F238E27FC236}">
                <a16:creationId xmlns:a16="http://schemas.microsoft.com/office/drawing/2014/main" id="{BAF8BCA5-7986-4B19-AFD0-28DA65F8E5B8}"/>
              </a:ext>
            </a:extLst>
          </p:cNvPr>
          <p:cNvSpPr>
            <a:spLocks xmlns:a="http://schemas.openxmlformats.org/drawingml/2006/main" noGrp="1"/>
          </p:cNvSpPr>
          <p:nvPr/>
        </p:nvSpPr>
        <p:spPr>
          <a:xfrm xmlns:a="http://schemas.openxmlformats.org/drawingml/2006/main" rot="0" flipH="0" flipV="0">
            <a:off x="6742334" y="7297498"/>
            <a:ext cx="4803362" cy="1122235"/>
          </a:xfrm>
          <a:custGeom xmlns:a="http://schemas.openxmlformats.org/drawingml/2006/main">
            <a:rect l="l" t="t" r="r" b="b"/>
            <a:pathLst>
              <a:path w="6404483" h="1496314">
                <a:moveTo>
                  <a:pt x="0" y="0"/>
                </a:moveTo>
                <a:lnTo>
                  <a:pt x="6404483" y="0"/>
                </a:lnTo>
                <a:lnTo>
                  <a:pt x="6404483" y="1496314"/>
                </a:lnTo>
                <a:lnTo>
                  <a:pt x="0" y="1496314"/>
                </a:lnTo>
                <a:lnTo>
                  <a:pt x="0" y="0"/>
                </a:lnTo>
                <a:close/>
              </a:path>
            </a:pathLst>
          </a:custGeom>
          <a:blipFill xmlns:a="http://schemas.openxmlformats.org/drawingml/2006/main">
            <a:blip xmlns:r="http://schemas.openxmlformats.org/officeDocument/2006/relationships" r:embed="Rc01124706e0b4da2"/>
            <a:stretch>
              <a:fillRect l="0" t="-25" r="0" b="-29"/>
            </a:stretch>
          </a:blipFill>
        </p:spPr>
        <p:txBody>
          <a:bodyPr xmlns:a="http://schemas.openxmlformats.org/drawingml/2006/main"/>
          <a:lstStyle xmlns:a="http://schemas.openxmlformats.org/drawingml/2006/main"/>
          <a:p xmlns:a="http://schemas.openxmlformats.org/drawingml/2006/main">
            <a:endParaRPr/>
          </a:p>
        </p:txBody>
      </p:sp>
      <p:sp>
        <p:nvSpPr>
          <p:cNvPr id="6" name="TextBox 6">
            <a:extLst xmlns:a="http://schemas.openxmlformats.org/drawingml/2006/main">
              <a:ext uri="{FF2B5EF4-FFF2-40B4-BE49-F238E27FC236}">
                <a16:creationId xmlns:a16="http://schemas.microsoft.com/office/drawing/2014/main" id="{E6E36A32-ECFE-444F-A246-E92B644F9B11}"/>
              </a:ext>
            </a:extLst>
          </p:cNvPr>
          <p:cNvSpPr>
            <a:spLocks xmlns:a="http://schemas.openxmlformats.org/drawingml/2006/main" noGrp="1"/>
          </p:cNvSpPr>
          <p:nvPr/>
        </p:nvSpPr>
        <p:spPr>
          <a:xfrm xmlns:a="http://schemas.openxmlformats.org/drawingml/2006/main">
            <a:off x="6140033" y="4671136"/>
            <a:ext cx="6007935" cy="426327"/>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645"/>
              </a:lnSpc>
              <a:buNone/>
            </a:pPr>
            <a:r>
              <a:rPr sz="3375" b="1">
                <a:solidFill>
                  <a:srgbClr val="FFFFFF"/>
                </a:solidFill>
                <a:latin typeface="Helvetica World Bold"/>
                <a:ea typeface="Helvetica World Bold"/>
                <a:cs typeface="Helvetica World Bold"/>
              </a:rPr>
              <a:t>Thank you</a:t>
            </a:r>
          </a:p>
        </p:txBody>
      </p:sp>
    </p:spTree>
    <p:extLst>
      <p:ext uri="{BB962C8B-B14F-4D97-AF65-F5344CB8AC3E}">
        <p14:creationId xmlns:p14="http://schemas.microsoft.com/office/powerpoint/2010/main" val="10770410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2026-10-17T14:46:43.5170000Z</dcterms:created>
  <dcterms:modified xsi:type="dcterms:W3CDTF">2026-10-17T14:46:43.5170000Z</dcterms:modified>
</coreProperties>
</file>